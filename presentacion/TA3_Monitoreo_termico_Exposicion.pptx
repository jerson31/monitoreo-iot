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35a6f51e1f14789" /><Relationship Type="http://schemas.openxmlformats.org/officeDocument/2006/relationships/extended-properties" Target="/docProps/app.xml" Id="Rddbd9353b973472f" /><Relationship Type="http://schemas.openxmlformats.org/officeDocument/2006/relationships/officeDocument" Target="/ppt/presentation.xml" Id="R7cbf86ebed47494a" /></Relationships>
</file>

<file path=ppt/presentation.xml><?xml version="1.0" encoding="utf-8"?>
<p:presentation xmlns:p="http://schemas.openxmlformats.org/presentationml/2006/main">
  <p:sldMasterIdLst>
    <p:sldMasterId xmlns:r="http://schemas.openxmlformats.org/officeDocument/2006/relationships" id="2147483648" r:id="R253711529b4d4547"/>
  </p:sldMasterIdLst>
  <p:notesMasterIdLst>
    <p:notesMasterId xmlns:r="http://schemas.openxmlformats.org/officeDocument/2006/relationships" r:id="Rf890feca2a434658"/>
  </p:notesMasterIdLst>
  <p:sldIdLst>
    <p:sldId xmlns:r="http://schemas.openxmlformats.org/officeDocument/2006/relationships" id="256" r:id="R4aa0159628614ac8"/>
    <p:sldId xmlns:r="http://schemas.openxmlformats.org/officeDocument/2006/relationships" id="257" r:id="R0c828609c1984c6b"/>
    <p:sldId xmlns:r="http://schemas.openxmlformats.org/officeDocument/2006/relationships" id="258" r:id="R3bf23805bc894b1a"/>
    <p:sldId xmlns:r="http://schemas.openxmlformats.org/officeDocument/2006/relationships" id="259" r:id="R08c69579f7eb46d4"/>
    <p:sldId xmlns:r="http://schemas.openxmlformats.org/officeDocument/2006/relationships" id="260" r:id="R15ef10f7cf01434a"/>
    <p:sldId xmlns:r="http://schemas.openxmlformats.org/officeDocument/2006/relationships" id="261" r:id="Redb11faa1c51436d"/>
    <p:sldId xmlns:r="http://schemas.openxmlformats.org/officeDocument/2006/relationships" id="262" r:id="R70925682b65c4bf6"/>
    <p:sldId xmlns:r="http://schemas.openxmlformats.org/officeDocument/2006/relationships" id="263" r:id="Rfe5af56854ae417f"/>
    <p:sldId xmlns:r="http://schemas.openxmlformats.org/officeDocument/2006/relationships" id="264" r:id="R1fc0bcc53c9849b9"/>
    <p:sldId xmlns:r="http://schemas.openxmlformats.org/officeDocument/2006/relationships" id="265" r:id="Rd1d5bb5ca06e4f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2a09cd5dd74c41" /><Relationship Type="http://schemas.openxmlformats.org/officeDocument/2006/relationships/slideMaster" Target="/ppt/slideMasters/slideMaster1.xml" Id="R253711529b4d4547" /><Relationship Type="http://schemas.openxmlformats.org/officeDocument/2006/relationships/notesMaster" Target="/ppt/notesMasters/notesMaster1.xml" Id="Rf890feca2a434658" /><Relationship Type="http://schemas.openxmlformats.org/officeDocument/2006/relationships/presProps" Target="/ppt/presProps.xml" Id="R17aa3ae2e3464943" /><Relationship Type="http://schemas.openxmlformats.org/officeDocument/2006/relationships/tableStyles" Target="/ppt/tableStyles.xml" Id="R8fb082b9bad54614" /><Relationship Type="http://schemas.openxmlformats.org/officeDocument/2006/relationships/slide" Target="/ppt/slides/slide1.xml" Id="R4aa0159628614ac8" /><Relationship Type="http://schemas.openxmlformats.org/officeDocument/2006/relationships/slide" Target="/ppt/slides/slide2.xml" Id="R0c828609c1984c6b" /><Relationship Type="http://schemas.openxmlformats.org/officeDocument/2006/relationships/slide" Target="/ppt/slides/slide3.xml" Id="R3bf23805bc894b1a" /><Relationship Type="http://schemas.openxmlformats.org/officeDocument/2006/relationships/slide" Target="/ppt/slides/slide4.xml" Id="R08c69579f7eb46d4" /><Relationship Type="http://schemas.openxmlformats.org/officeDocument/2006/relationships/slide" Target="/ppt/slides/slide5.xml" Id="R15ef10f7cf01434a" /><Relationship Type="http://schemas.openxmlformats.org/officeDocument/2006/relationships/slide" Target="/ppt/slides/slide6.xml" Id="Redb11faa1c51436d" /><Relationship Type="http://schemas.openxmlformats.org/officeDocument/2006/relationships/slide" Target="/ppt/slides/slide7.xml" Id="R70925682b65c4bf6" /><Relationship Type="http://schemas.openxmlformats.org/officeDocument/2006/relationships/slide" Target="/ppt/slides/slide8.xml" Id="Rfe5af56854ae417f" /><Relationship Type="http://schemas.openxmlformats.org/officeDocument/2006/relationships/slide" Target="/ppt/slides/slide9.xml" Id="R1fc0bcc53c9849b9" /><Relationship Type="http://schemas.openxmlformats.org/officeDocument/2006/relationships/slide" Target="/ppt/slides/slide10.xml" Id="Rd1d5bb5ca06e4f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a77397aba943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3d17f1eb034f1c" /><Relationship Type="http://schemas.openxmlformats.org/officeDocument/2006/relationships/notesMaster" Target="/ppt/notesMasters/notesMaster1.xml" Id="Re3cad3efe43d46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13b7da784843e7" /><Relationship Type="http://schemas.openxmlformats.org/officeDocument/2006/relationships/notesMaster" Target="/ppt/notesMasters/notesMaster1.xml" Id="Rd217d804bcf248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03a7672ab14cf9" /><Relationship Type="http://schemas.openxmlformats.org/officeDocument/2006/relationships/notesMaster" Target="/ppt/notesMasters/notesMaster1.xml" Id="Ra7544f6bc42a4a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427dbb189e4944" /><Relationship Type="http://schemas.openxmlformats.org/officeDocument/2006/relationships/notesMaster" Target="/ppt/notesMasters/notesMaster1.xml" Id="R93609edfdc0242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03dc70afac43c1" /><Relationship Type="http://schemas.openxmlformats.org/officeDocument/2006/relationships/notesMaster" Target="/ppt/notesMasters/notesMaster1.xml" Id="Rb38c37750dfa42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2275a611f14b29" /><Relationship Type="http://schemas.openxmlformats.org/officeDocument/2006/relationships/notesMaster" Target="/ppt/notesMasters/notesMaster1.xml" Id="R64e3237844f145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2ffc60c1534eca" /><Relationship Type="http://schemas.openxmlformats.org/officeDocument/2006/relationships/notesMaster" Target="/ppt/notesMasters/notesMaster1.xml" Id="Re3f06e92ed384e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e488b63734472b" /><Relationship Type="http://schemas.openxmlformats.org/officeDocument/2006/relationships/notesMaster" Target="/ppt/notesMasters/notesMaster1.xml" Id="R5faf4fd1582c46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e85a1e80224da3" /><Relationship Type="http://schemas.openxmlformats.org/officeDocument/2006/relationships/notesMaster" Target="/ppt/notesMasters/notesMaster1.xml" Id="R6ee839f48ef948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32b3a1ea24f4a38" /><Relationship Type="http://schemas.openxmlformats.org/officeDocument/2006/relationships/notesMaster" Target="/ppt/notesMasters/notesMaster1.xml" Id="R3011d1274a4a40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Jerson</a:t>
            </a:r>
          </a:p>
          <a:p xmlns:a="http://schemas.openxmlformats.org/drawingml/2006/main">
            <a:r>
              <a:t/>
            </a:r>
          </a:p>
          <a:p xmlns:a="http://schemas.openxmlformats.org/drawingml/2006/main">
            <a:r>
              <a:t>GUION</a:t>
            </a:r>
          </a:p>
          <a:p xmlns:a="http://schemas.openxmlformats.org/drawingml/2006/main">
            <a:r>
              <a:t>Buenos días. Somos Jerson Esquen y Alejandro Castillo. Presentamos un prototipo IoT para monitorear la temperatura de dos zonas de un almacén de productos de limpieza. Los sensores se representan mediante software. La transmisión de mensajes, el almacenamiento y la visualización funcionan con los servicios que implementamos.</a:t>
            </a:r>
          </a:p>
          <a:p xmlns:a="http://schemas.openxmlformats.org/drawingml/2006/main">
            <a:r>
              <a:t/>
            </a:r>
          </a:p>
          <a:p xmlns:a="http://schemas.openxmlformats.org/drawingml/2006/main">
            <a:r>
              <a:t>QUÉ MOSTRAR</a:t>
            </a:r>
          </a:p>
          <a:p xmlns:a="http://schemas.openxmlformats.org/drawingml/2006/main">
            <a:r>
              <a:t>Presentar el título y a ambos integrantes.</a:t>
            </a:r>
          </a:p>
          <a:p xmlns:a="http://schemas.openxmlformats.org/drawingml/2006/main">
            <a:r>
              <a:t/>
            </a:r>
          </a:p>
          <a:p xmlns:a="http://schemas.openxmlformats.org/drawingml/2006/main">
            <a:r>
              <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Jerson</a:t>
            </a:r>
          </a:p>
          <a:p xmlns:a="http://schemas.openxmlformats.org/drawingml/2006/main">
            <a:r>
              <a:t/>
            </a:r>
          </a:p>
          <a:p xmlns:a="http://schemas.openxmlformats.org/drawingml/2006/main">
            <a:r>
              <a:t>GUION</a:t>
            </a:r>
          </a:p>
          <a:p xmlns:a="http://schemas.openxmlformats.org/drawingml/2006/main">
            <a:r>
              <a:t>El caso representa un centro que recibe, almacena y despacha detergentes y jabones envasados. Consideramos almacenamiento y recepción y despacho. Planteamos que las revisiones ocasionales dificultan conocer cuándo comenzó un aumento de temperatura y cuánto duró. El objetivo es disponer de información continua e historial por zona.</a:t>
            </a:r>
          </a:p>
          <a:p xmlns:a="http://schemas.openxmlformats.org/drawingml/2006/main">
            <a:r>
              <a:t/>
            </a:r>
          </a:p>
          <a:p xmlns:a="http://schemas.openxmlformats.org/drawingml/2006/main">
            <a:r>
              <a:t>QUÉ MOSTRAR</a:t>
            </a:r>
          </a:p>
          <a:p xmlns:a="http://schemas.openxmlformats.org/drawingml/2006/main">
            <a:r>
              <a:t>Señalar cada zona del diagrama.</a:t>
            </a:r>
          </a:p>
          <a:p xmlns:a="http://schemas.openxmlformats.org/drawingml/2006/main">
            <a:r>
              <a:t/>
            </a:r>
          </a:p>
          <a:p xmlns:a="http://schemas.openxmlformats.org/drawingml/2006/main">
            <a:r>
              <a:t>Es un caso académico. No afirmar que se midió un almacén físico o que se demostraron pérdidas económicas.</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Jerson</a:t>
            </a:r>
          </a:p>
          <a:p xmlns:a="http://schemas.openxmlformats.org/drawingml/2006/main">
            <a:r>
              <a:t/>
            </a:r>
          </a:p>
          <a:p xmlns:a="http://schemas.openxmlformats.org/drawingml/2006/main">
            <a:r>
              <a:t>GUION</a:t>
            </a:r>
          </a:p>
          <a:p xmlns:a="http://schemas.openxmlformats.org/drawingml/2006/main">
            <a:r>
              <a:t>Una lectura nace en uno de los nodos y llega a EMQX mediante MQTT. El broker la entrega al receptor suscrito. El receptor valida el mensaje y lo escribe en InfluxDB mediante HTTP. Grafana consulta la base de datos y presenta la información en el navegador. Los seis servicios comparten una red virtual de Docker.</a:t>
            </a:r>
          </a:p>
          <a:p xmlns:a="http://schemas.openxmlformats.org/drawingml/2006/main">
            <a:r>
              <a:t/>
            </a:r>
          </a:p>
          <a:p xmlns:a="http://schemas.openxmlformats.org/drawingml/2006/main">
            <a:r>
              <a:t>QUÉ MOSTRAR</a:t>
            </a:r>
          </a:p>
          <a:p xmlns:a="http://schemas.openxmlformats.org/drawingml/2006/main">
            <a:r>
              <a:t>Recorrer las flechas. Destacar que Grafana consulta la base y que existen dos nodos independientes.</a:t>
            </a:r>
          </a:p>
          <a:p xmlns:a="http://schemas.openxmlformats.org/drawingml/2006/main">
            <a:r>
              <a:t/>
            </a:r>
          </a:p>
          <a:p xmlns:a="http://schemas.openxmlformats.org/drawingml/2006/main">
            <a:r>
              <a:t>La red transporta mensajes reales entre servicios. No emula cobertura, interferencia ni propagación de una red inalámbrica. Fuente adicional: https://docs.docker.com/compose/how-tos/networking/</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Jerson</a:t>
            </a:r>
          </a:p>
          <a:p xmlns:a="http://schemas.openxmlformats.org/drawingml/2006/main">
            <a:r>
              <a:t/>
            </a:r>
          </a:p>
          <a:p xmlns:a="http://schemas.openxmlformats.org/drawingml/2006/main">
            <a:r>
              <a:t>GUION</a:t>
            </a:r>
          </a:p>
          <a:p xmlns:a="http://schemas.openxmlformats.org/drawingml/2006/main">
            <a:r>
              <a:t>Visual Studio Code es el editor donde trabajamos con los archivos y comandos. Python permite programar los nodos y el receptor. Paho es la biblioteca para conectarlos mediante MQTT. Docker ejecuta cada servicio en un contenedor y Compose define el conjunto. En nuestra instalación, WSL proporciona el entorno Linux que utiliza Docker Desktop desde Windows.</a:t>
            </a:r>
          </a:p>
          <a:p xmlns:a="http://schemas.openxmlformats.org/drawingml/2006/main">
            <a:r>
              <a:t/>
            </a:r>
          </a:p>
          <a:p xmlns:a="http://schemas.openxmlformats.org/drawingml/2006/main">
            <a:r>
              <a:t>QUÉ MOSTRAR</a:t>
            </a:r>
          </a:p>
          <a:p xmlns:a="http://schemas.openxmlformats.org/drawingml/2006/main">
            <a:r>
              <a:t>Explicar la función de las herramientas, sin leer todas las celdas. En VS Code, mostrar compose.yaml solo si preguntan por la configuración.</a:t>
            </a:r>
          </a:p>
          <a:p xmlns:a="http://schemas.openxmlformats.org/drawingml/2006/main">
            <a:r>
              <a:t/>
            </a:r>
          </a:p>
          <a:p xmlns:a="http://schemas.openxmlformats.org/drawingml/2006/main">
            <a:r>
              <a:t>Fuente adicional: https://docs.docker.com/get-started/docker-concepts/the-basics/what-is-a-container/</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Jerson</a:t>
            </a:r>
          </a:p>
          <a:p xmlns:a="http://schemas.openxmlformats.org/drawingml/2006/main">
            <a:r>
              <a:t/>
            </a:r>
          </a:p>
          <a:p xmlns:a="http://schemas.openxmlformats.org/drawingml/2006/main">
            <a:r>
              <a:t>GUION</a:t>
            </a:r>
          </a:p>
          <a:p xmlns:a="http://schemas.openxmlformats.org/drawingml/2006/main">
            <a:r>
              <a:t>Cada nodo representa un sensor de una zona. El programa conserva la temperatura anterior y cambia gradualmente hacia un valor objetivo. Almacenamiento mantiene condiciones más estables. Recepción y despacho incorpora períodos de calentamiento y recuperación. Una pequeña variación aleatoria hace que los valores puedan cambiar entre ejecuciones. Este gráfico muestra el comportamiento calculado del modelo, no mediciones físicas.</a:t>
            </a:r>
          </a:p>
          <a:p xmlns:a="http://schemas.openxmlformats.org/drawingml/2006/main">
            <a:r>
              <a:t/>
            </a:r>
          </a:p>
          <a:p xmlns:a="http://schemas.openxmlformats.org/drawingml/2006/main">
            <a:r>
              <a:t>QUÉ MOSTRAR</a:t>
            </a:r>
          </a:p>
          <a:p xmlns:a="http://schemas.openxmlformats.org/drawingml/2006/main">
            <a:r>
              <a:t>En VS Code mostrar src/configuracion.py: INTERVALO_SEGUNDOS y NODOS. Después src/sensor_simulado.py: clase NodoTemperatura y método leer().</a:t>
            </a:r>
          </a:p>
          <a:p xmlns:a="http://schemas.openxmlformats.org/drawingml/2006/main">
            <a:r>
              <a:t/>
            </a:r>
          </a:p>
          <a:p xmlns:a="http://schemas.openxmlformats.org/drawingml/2006/main">
            <a:r>
              <a:t>El gráfico usa 12 puntos seleccionados de 36 lecturas calculadas por zona, sin esperar seis minutos reales. Los valores de exposición son sintéticos. No describir el modelo como calibrado físicamente.</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Alejandro</a:t>
            </a:r>
          </a:p>
          <a:p xmlns:a="http://schemas.openxmlformats.org/drawingml/2006/main">
            <a:r>
              <a:t/>
            </a:r>
          </a:p>
          <a:p xmlns:a="http://schemas.openxmlformats.org/drawingml/2006/main">
            <a:r>
              <a:t>GUION</a:t>
            </a:r>
          </a:p>
          <a:p xmlns:a="http://schemas.openxmlformats.org/drawingml/2006/main">
            <a:r>
              <a:t>MQTT es el protocolo utilizado para enviar las lecturas. EMQX es el broker que recibe los mensajes y los entrega al receptor. Cada nodo publica en su propio tópico. El receptor utiliza el signo más para escuchar ambos nodos con una sola suscripción. Usamos QoS 1 para confirmar la recepción por el broker. Esa confirmación se distingue de la escritura en la base de datos.</a:t>
            </a:r>
          </a:p>
          <a:p xmlns:a="http://schemas.openxmlformats.org/drawingml/2006/main">
            <a:r>
              <a:t/>
            </a:r>
          </a:p>
          <a:p xmlns:a="http://schemas.openxmlformats.org/drawingml/2006/main">
            <a:r>
              <a:t>QUÉ MOSTRAR</a:t>
            </a:r>
          </a:p>
          <a:p xmlns:a="http://schemas.openxmlformats.org/drawingml/2006/main">
            <a:r>
              <a:t>Mostrar src/sensor_simulado.py: topico y publicar(). En src/almacenar_mqtt.py, señalar suscripcion="ta3/almacen/+/temperatura", json.loads() y guardar().</a:t>
            </a:r>
          </a:p>
          <a:p xmlns:a="http://schemas.openxmlformats.org/drawingml/2006/main">
            <a:r>
              <a:t/>
            </a:r>
          </a:p>
          <a:p xmlns:a="http://schemas.openxmlformats.org/drawingml/2006/main">
            <a:r>
              <a:t>Fuente adicional: https://docs.emqx.com/en/emqx/latest/get-started/messaging/mqtt-concepts.html</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Alejandro</a:t>
            </a:r>
          </a:p>
          <a:p xmlns:a="http://schemas.openxmlformats.org/drawingml/2006/main">
            <a:r>
              <a:t/>
            </a:r>
          </a:p>
          <a:p xmlns:a="http://schemas.openxmlformats.org/drawingml/2006/main">
            <a:r>
              <a:t>GUION</a:t>
            </a:r>
          </a:p>
          <a:p xmlns:a="http://schemas.openxmlformats.org/drawingml/2006/main">
            <a:r>
              <a:t>El receptor interpreta cada mensaje JSON y comprueba que sus datos correspondan al nodo y al tópico. Las lecturas válidas se escriben en InfluxDB, una base de datos orientada a series de tiempo. Cada registro conserva su fecha de generación. El bucket temperaturas guarda el historial con una retención de siete días. Un volumen de Docker permite conservarlo cuando detenemos los contenedores.</a:t>
            </a:r>
          </a:p>
          <a:p xmlns:a="http://schemas.openxmlformats.org/drawingml/2006/main">
            <a:r>
              <a:t/>
            </a:r>
          </a:p>
          <a:p xmlns:a="http://schemas.openxmlformats.org/drawingml/2006/main">
            <a:r>
              <a:t>QUÉ MOSTRAR</a:t>
            </a:r>
          </a:p>
          <a:p xmlns:a="http://schemas.openxmlformats.org/drawingml/2006/main">
            <a:r>
              <a:t>Mostrar src/influx_comun.py: preparar_punto() y guardar(). Identificar las comprobaciones y la ruta /api/v2/write. Explicar que GUARDADO aparece después de confirmar la escritura.</a:t>
            </a:r>
          </a:p>
          <a:p xmlns:a="http://schemas.openxmlformats.org/drawingml/2006/main">
            <a:r>
              <a:t/>
            </a:r>
          </a:p>
          <a:p xmlns:a="http://schemas.openxmlformats.org/drawingml/2006/main">
            <a:r>
              <a:t>Fuente adicional: https://docs.influxdata.com/influxdb/v2/write-data/developer-tools/api/</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Alejandro</a:t>
            </a:r>
          </a:p>
          <a:p xmlns:a="http://schemas.openxmlformats.org/drawingml/2006/main">
            <a:r>
              <a:t/>
            </a:r>
          </a:p>
          <a:p xmlns:a="http://schemas.openxmlformats.org/drawingml/2006/main">
            <a:r>
              <a:t>GUION</a:t>
            </a:r>
          </a:p>
          <a:p xmlns:a="http://schemas.openxmlformats.org/drawingml/2006/main">
            <a:r>
              <a:t>Grafana consulta InfluxDB y presenta la última temperatura, las curvas, los estados y la tabla. Los filtros permiten seleccionar el nodo y el período. La referencia académica es 28 grados. Cuando una lectura alcanza sesenta segundos de antigüedad, el panel de estado indica SIN DATOS. Esta captura del informe muestra una consulta con lecturas antiguas. En la demostración veremos la actualización en vivo.</a:t>
            </a:r>
          </a:p>
          <a:p xmlns:a="http://schemas.openxmlformats.org/drawingml/2006/main">
            <a:r>
              <a:t/>
            </a:r>
          </a:p>
          <a:p xmlns:a="http://schemas.openxmlformats.org/drawingml/2006/main">
            <a:r>
              <a:t>QUÉ MOSTRAR</a:t>
            </a:r>
          </a:p>
          <a:p xmlns:a="http://schemas.openxmlformats.org/drawingml/2006/main">
            <a:r>
              <a:t>Señalar el filtro, las temperaturas, el gráfico y la antigüedad. La última temperatura puede quedar visible cuando un nodo se detiene, por lo que debemos revisar su fecha.</a:t>
            </a:r>
          </a:p>
          <a:p xmlns:a="http://schemas.openxmlformats.org/drawingml/2006/main">
            <a:r>
              <a:t/>
            </a:r>
          </a:p>
          <a:p xmlns:a="http://schemas.openxmlformats.org/drawingml/2006/main">
            <a:r>
              <a:t>Fuente visual: imagen3 del informe del equipo, conservada sin edición. Fuente de configuración: grafana/dashboards/almacen_simulado.json. Los 28 °C son una referencia académica, no una especificación de conservación del fabricante.</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Alejandro</a:t>
            </a:r>
          </a:p>
          <a:p xmlns:a="http://schemas.openxmlformats.org/drawingml/2006/main">
            <a:r>
              <a:t/>
            </a:r>
          </a:p>
          <a:p xmlns:a="http://schemas.openxmlformats.org/drawingml/2006/main">
            <a:r>
              <a:t>GUION</a:t>
            </a:r>
          </a:p>
          <a:p xmlns:a="http://schemas.openxmlformats.org/drawingml/2006/main">
            <a:r>
              <a:t>Comprobamos los servicios activos, las publicaciones de ambos nodos, las escrituras del receptor y la visualización del historial. Los mensajes PUBLICADO y GUARDADO permiten seguir una lectura por etapas. Al revisar el sensor, la fecha y la temperatura podemos comprobar que el mensaje corresponde al registro almacenado. El dashboard permite comparar las zonas y consultar registros anteriores.</a:t>
            </a:r>
          </a:p>
          <a:p xmlns:a="http://schemas.openxmlformats.org/drawingml/2006/main">
            <a:r>
              <a:t/>
            </a:r>
          </a:p>
          <a:p xmlns:a="http://schemas.openxmlformats.org/drawingml/2006/main">
            <a:r>
              <a:t>QUÉ MOSTRAR</a:t>
            </a:r>
          </a:p>
          <a:p xmlns:a="http://schemas.openxmlformats.org/drawingml/2006/main">
            <a:r>
              <a:t>Estas comprobaciones se mostrarán en la demostración: docker compose ps, registros de nodos y receptor, InfluxDB y Grafana.</a:t>
            </a:r>
          </a:p>
          <a:p xmlns:a="http://schemas.openxmlformats.org/drawingml/2006/main">
            <a:r>
              <a:t/>
            </a:r>
          </a:p>
          <a:p xmlns:a="http://schemas.openxmlformats.org/drawingml/2006/main">
            <a:r>
              <a:t>No afirmar ahorro económico, calibración física, pérdida cero de mensajes o pruebas de redes inalámbricas. No presentar el gráfico del modelo como una prueba cronometrada de transmisión.</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EXPONE: Alejandro y Jerson</a:t>
            </a:r>
          </a:p>
          <a:p xmlns:a="http://schemas.openxmlformats.org/drawingml/2006/main">
            <a:r>
              <a:t/>
            </a:r>
          </a:p>
          <a:p xmlns:a="http://schemas.openxmlformats.org/drawingml/2006/main">
            <a:r>
              <a:t>GUION</a:t>
            </a:r>
          </a:p>
          <a:p xmlns:a="http://schemas.openxmlformats.org/drawingml/2006/main">
            <a:r>
              <a:t>Integramos generación, transmisión, validación, almacenamiento y visualización de temperaturas. El prototipo permite comparar dos zonas y consultar su historial. Los sensores se representan mediante software. Para aplicarlo en un almacén físico necesitaríamos sensores calibrados, adaptar la adquisición y definir límites adecuados para los productos. Ahora mostraremos el funcionamiento del sistema.</a:t>
            </a:r>
          </a:p>
          <a:p xmlns:a="http://schemas.openxmlformats.org/drawingml/2006/main">
            <a:r>
              <a:t/>
            </a:r>
          </a:p>
          <a:p xmlns:a="http://schemas.openxmlformats.org/drawingml/2006/main">
            <a:r>
              <a:t>QUÉ MOSTRAR</a:t>
            </a:r>
          </a:p>
          <a:p xmlns:a="http://schemas.openxmlformats.org/drawingml/2006/main">
            <a:r>
              <a:t>Alejandro explica las conclusiones. Jerson introduce la demostración.</a:t>
            </a:r>
          </a:p>
          <a:p xmlns:a="http://schemas.openxmlformats.org/drawingml/2006/main">
            <a:r>
              <a:t/>
            </a:r>
          </a:p>
          <a:p xmlns:a="http://schemas.openxmlformats.org/drawingml/2006/main">
            <a:r>
              <a:t>La asignación de diapositivas es un reparto sugerido para exponer y no una declaración de quién realizó cada tarea del desarrollo.</a:t>
            </a:r>
          </a:p>
          <a:p xmlns:a="http://schemas.openxmlformats.org/drawingml/2006/main">
            <a:r>
              <a:t/>
            </a:r>
          </a:p>
          <a:p xmlns:a="http://schemas.openxmlformats.org/drawingml/2006/main">
            <a:r>
              <a:t>FUENTES</a:t>
            </a:r>
          </a:p>
          <a:p xmlns:a="http://schemas.openxmlformats.org/drawingml/2006/main">
            <a:r>
              <a:t>Informe del equipo: C:/Users/51980/OneDrive - Universidad Tecnologica del Peru/Desktop/JersonEsquen_2026/CICLO 2026-1/TareaAcedemica3-Herramientas.docx</a:t>
            </a:r>
          </a:p>
          <a:p xmlns:a="http://schemas.openxmlformats.org/drawingml/2006/main">
            <a:r>
              <a:t>Código y configuración: C:/Users/51980/OneDrive - Universidad Tecnologica del Peru/Documents/ProyectosUTP-2026/Tareas Academicas Herramientas TIC/TA3_simulacion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e85e0d93594d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69766016f44f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f8df321c2b41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f3afe0060348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7478a25b7494fa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0175cec4a249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B7AE24-98E7-4BC8-9862-16E7EE6810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48F244-C455-421F-B967-F7FB92C7F0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46C19E-6284-4DD2-8D4F-72F078F63A2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249D24-78B4-4D13-BBE4-5B62FA6707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3826B3E-CAF8-4BCD-8122-4793094F42E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342733-7BEC-49AF-BB7B-B0CB9E26F7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040E42-0BD4-42F1-B3B2-4A39E629A1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9304F0-A71D-4A58-8931-DBE9D61C842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4F8EBB-48F8-49A6-AD3F-1A60CBA685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A1E3A3-1543-4EDA-A701-BF02995761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34ed5c7ccf4986" /><Relationship Type="http://schemas.openxmlformats.org/officeDocument/2006/relationships/slideLayout" Target="/ppt/slideLayouts/slideLayout1.xml" Id="Rf7c44abe850a4cbe" /><Relationship Type="http://schemas.openxmlformats.org/officeDocument/2006/relationships/slideLayout" Target="/ppt/slideLayouts/slideLayout2.xml" Id="R697ac87f317742b0" /><Relationship Type="http://schemas.openxmlformats.org/officeDocument/2006/relationships/slideLayout" Target="/ppt/slideLayouts/slideLayout3.xml" Id="Rc95928638f754f70" /><Relationship Type="http://schemas.openxmlformats.org/officeDocument/2006/relationships/slideLayout" Target="/ppt/slideLayouts/slideLayout4.xml" Id="Rf6c7258cd8014a62" /><Relationship Type="http://schemas.openxmlformats.org/officeDocument/2006/relationships/slideLayout" Target="/ppt/slideLayouts/slideLayout5.xml" Id="R5234285f5477432e" /><Relationship Type="http://schemas.openxmlformats.org/officeDocument/2006/relationships/slideLayout" Target="/ppt/slideLayouts/slideLayout6.xml" Id="R1356eea275de48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c44abe850a4cbe"/>
    <p:sldLayoutId xmlns:r="http://schemas.openxmlformats.org/officeDocument/2006/relationships" id="2147483650" r:id="R697ac87f317742b0"/>
    <p:sldLayoutId xmlns:r="http://schemas.openxmlformats.org/officeDocument/2006/relationships" id="2147483651" r:id="Rc95928638f754f70"/>
    <p:sldLayoutId xmlns:r="http://schemas.openxmlformats.org/officeDocument/2006/relationships" id="2147483652" r:id="Rf6c7258cd8014a62"/>
    <p:sldLayoutId xmlns:r="http://schemas.openxmlformats.org/officeDocument/2006/relationships" id="2147483653" r:id="R5234285f5477432e"/>
    <p:sldLayoutId xmlns:r="http://schemas.openxmlformats.org/officeDocument/2006/relationships" id="2147483654" r:id="R1356eea275de48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d2636b4dac5410a" /><Relationship Type="http://schemas.openxmlformats.org/officeDocument/2006/relationships/image" Target="/ppt/media/image.png" Id="R2bd0a03c14264b5c" /><Relationship Type="http://schemas.openxmlformats.org/officeDocument/2006/relationships/notesSlide" Target="/ppt/notesSlides/notesSlide1.xml" Id="R5b8f411593ad40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b687c1a6fde40bd" /><Relationship Type="http://schemas.openxmlformats.org/officeDocument/2006/relationships/notesSlide" Target="/ppt/notesSlides/notesSlide2.xml" Id="R31a90801822e45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cfcb23f0724074" /><Relationship Type="http://schemas.openxmlformats.org/officeDocument/2006/relationships/notesSlide" Target="/ppt/notesSlides/notesSlide3.xml" Id="R41d95f40fa4546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02377450374664" /><Relationship Type="http://schemas.openxmlformats.org/officeDocument/2006/relationships/notesSlide" Target="/ppt/notesSlides/notesSlide4.xml" Id="R2d270d6f6ddc4e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07e4c246bd4e19" /><Relationship Type="http://schemas.openxmlformats.org/officeDocument/2006/relationships/chart" Target="/ppt/slides/charts/chart1.xml" Id="Raf9ba2506b3141bd" /><Relationship Type="http://schemas.openxmlformats.org/officeDocument/2006/relationships/notesSlide" Target="/ppt/notesSlides/notesSlide5.xml" Id="R4ec48b3126bd46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cd80cc105a4bf9" /><Relationship Type="http://schemas.openxmlformats.org/officeDocument/2006/relationships/notesSlide" Target="/ppt/notesSlides/notesSlide6.xml" Id="Rf282e637f2e84d3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c535af44df4087" /><Relationship Type="http://schemas.openxmlformats.org/officeDocument/2006/relationships/notesSlide" Target="/ppt/notesSlides/notesSlide7.xml" Id="R2068d0168a5040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1ae60f9e7934842" /><Relationship Type="http://schemas.openxmlformats.org/officeDocument/2006/relationships/image" Target="/ppt/media/image2.png" Id="Rfd33c9e5d2684778" /><Relationship Type="http://schemas.openxmlformats.org/officeDocument/2006/relationships/notesSlide" Target="/ppt/notesSlides/notesSlide8.xml" Id="Rf8855c95489346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32e20415d5c43c8" /><Relationship Type="http://schemas.openxmlformats.org/officeDocument/2006/relationships/notesSlide" Target="/ppt/notesSlides/notesSlide9.xml" Id="R1f5d3c3985d948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aadc1710b044de7" /><Relationship Type="http://schemas.openxmlformats.org/officeDocument/2006/relationships/notesSlide" Target="/ppt/notesSlides/notesSlide10.xml" Id="R9030c212d3a24ec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ALM-01</c:v>
          </c:tx>
          <c:spPr>
            <a:ln xmlns:a="http://schemas.openxmlformats.org/drawingml/2006/main" w="28575">
              <a:solidFill>
                <a:srgbClr val="287AC3"/>
              </a:solidFill>
            </a:ln>
          </c:spPr>
          <c:marker>
            <c:symbol val="none"/>
          </c:marker>
          <c:cat>
            <c:strRef>
              <c:f>'Chart Data'!$A$2:$A$13</c:f>
              <c:strCache>
                <c:ptCount val="12"/>
                <c:pt idx="0">
                  <c:v>0:00</c:v>
                </c:pt>
                <c:pt idx="1">
                  <c:v>0:30</c:v>
                </c:pt>
                <c:pt idx="2">
                  <c:v>1:00</c:v>
                </c:pt>
                <c:pt idx="3">
                  <c:v>1:30</c:v>
                </c:pt>
                <c:pt idx="4">
                  <c:v>2:00</c:v>
                </c:pt>
                <c:pt idx="5">
                  <c:v>2:30</c:v>
                </c:pt>
                <c:pt idx="6">
                  <c:v>3:00</c:v>
                </c:pt>
                <c:pt idx="7">
                  <c:v>3:30</c:v>
                </c:pt>
                <c:pt idx="8">
                  <c:v>4:00</c:v>
                </c:pt>
                <c:pt idx="9">
                  <c:v>4:30</c:v>
                </c:pt>
                <c:pt idx="10">
                  <c:v>5:00</c:v>
                </c:pt>
                <c:pt idx="11">
                  <c:v>5:30</c:v>
                </c:pt>
              </c:strCache>
            </c:strRef>
          </c:cat>
          <c:val>
            <c:numRef>
              <c:f>'Chart Data'!$B$2:$B$13</c:f>
              <c:numCache>
                <c:formatCode>0.0</c:formatCode>
                <c:ptCount val="12"/>
                <c:pt idx="0">
                  <c:v>24.46</c:v>
                </c:pt>
                <c:pt idx="1">
                  <c:v>24.35</c:v>
                </c:pt>
                <c:pt idx="2">
                  <c:v>24.31</c:v>
                </c:pt>
                <c:pt idx="3">
                  <c:v>24.31</c:v>
                </c:pt>
                <c:pt idx="4">
                  <c:v>24.25</c:v>
                </c:pt>
                <c:pt idx="5">
                  <c:v>24.29</c:v>
                </c:pt>
                <c:pt idx="6">
                  <c:v>24.52</c:v>
                </c:pt>
                <c:pt idx="7">
                  <c:v>24.48</c:v>
                </c:pt>
                <c:pt idx="8">
                  <c:v>24.42</c:v>
                </c:pt>
                <c:pt idx="9">
                  <c:v>24.44</c:v>
                </c:pt>
                <c:pt idx="10">
                  <c:v>24.48</c:v>
                </c:pt>
                <c:pt idx="11">
                  <c:v>24.37</c:v>
                </c:pt>
              </c:numCache>
            </c:numRef>
          </c:val>
        </c:ser>
        <c:ser>
          <c:idx val="1"/>
          <c:order val="1"/>
          <c:tx>
            <c:v>ALM-02</c:v>
          </c:tx>
          <c:spPr>
            <a:ln xmlns:a="http://schemas.openxmlformats.org/drawingml/2006/main" w="28575">
              <a:solidFill>
                <a:srgbClr val="B86712"/>
              </a:solidFill>
            </a:ln>
          </c:spPr>
          <c:marker>
            <c:symbol val="none"/>
          </c:marker>
          <c:cat>
            <c:strRef>
              <c:f>'Chart Data'!$C$2:$C$13</c:f>
              <c:strCache>
                <c:ptCount val="12"/>
                <c:pt idx="0">
                  <c:v>0:00</c:v>
                </c:pt>
                <c:pt idx="1">
                  <c:v>0:30</c:v>
                </c:pt>
                <c:pt idx="2">
                  <c:v>1:00</c:v>
                </c:pt>
                <c:pt idx="3">
                  <c:v>1:30</c:v>
                </c:pt>
                <c:pt idx="4">
                  <c:v>2:00</c:v>
                </c:pt>
                <c:pt idx="5">
                  <c:v>2:30</c:v>
                </c:pt>
                <c:pt idx="6">
                  <c:v>3:00</c:v>
                </c:pt>
                <c:pt idx="7">
                  <c:v>3:30</c:v>
                </c:pt>
                <c:pt idx="8">
                  <c:v>4:00</c:v>
                </c:pt>
                <c:pt idx="9">
                  <c:v>4:30</c:v>
                </c:pt>
                <c:pt idx="10">
                  <c:v>5:00</c:v>
                </c:pt>
                <c:pt idx="11">
                  <c:v>5:30</c:v>
                </c:pt>
              </c:strCache>
            </c:strRef>
          </c:cat>
          <c:val>
            <c:numRef>
              <c:f>'Chart Data'!$D$2:$D$13</c:f>
              <c:numCache>
                <c:formatCode>0.0</c:formatCode>
                <c:ptCount val="12"/>
                <c:pt idx="0">
                  <c:v>26.16</c:v>
                </c:pt>
                <c:pt idx="1">
                  <c:v>26.05</c:v>
                </c:pt>
                <c:pt idx="2">
                  <c:v>26.71</c:v>
                </c:pt>
                <c:pt idx="3">
                  <c:v>28.02</c:v>
                </c:pt>
                <c:pt idx="4">
                  <c:v>28.59</c:v>
                </c:pt>
                <c:pt idx="5">
                  <c:v>28.22</c:v>
                </c:pt>
                <c:pt idx="6">
                  <c:v>27.28</c:v>
                </c:pt>
                <c:pt idx="7">
                  <c:v>26.68</c:v>
                </c:pt>
                <c:pt idx="8">
                  <c:v>27.06</c:v>
                </c:pt>
                <c:pt idx="9">
                  <c:v>28.27</c:v>
                </c:pt>
                <c:pt idx="10">
                  <c:v>28.87</c:v>
                </c:pt>
                <c:pt idx="11">
                  <c:v>28.33</c:v>
                </c:pt>
              </c:numCache>
            </c:numRef>
          </c:val>
        </c:ser>
        <c:ser>
          <c:idx val="2"/>
          <c:order val="2"/>
          <c:tx>
            <c:v>Referencia 28 °C</c:v>
          </c:tx>
          <c:spPr>
            <a:ln xmlns:a="http://schemas.openxmlformats.org/drawingml/2006/main" w="17145">
              <a:solidFill>
                <a:srgbClr val="BC3C4B"/>
              </a:solidFill>
              <a:prstDash val="dash"/>
            </a:ln>
          </c:spPr>
          <c:marker>
            <c:symbol val="none"/>
          </c:marker>
          <c:cat>
            <c:strRef>
              <c:f>'Chart Data'!$E$2:$E$13</c:f>
              <c:strCache>
                <c:ptCount val="12"/>
                <c:pt idx="0">
                  <c:v>0:00</c:v>
                </c:pt>
                <c:pt idx="1">
                  <c:v>0:30</c:v>
                </c:pt>
                <c:pt idx="2">
                  <c:v>1:00</c:v>
                </c:pt>
                <c:pt idx="3">
                  <c:v>1:30</c:v>
                </c:pt>
                <c:pt idx="4">
                  <c:v>2:00</c:v>
                </c:pt>
                <c:pt idx="5">
                  <c:v>2:30</c:v>
                </c:pt>
                <c:pt idx="6">
                  <c:v>3:00</c:v>
                </c:pt>
                <c:pt idx="7">
                  <c:v>3:30</c:v>
                </c:pt>
                <c:pt idx="8">
                  <c:v>4:00</c:v>
                </c:pt>
                <c:pt idx="9">
                  <c:v>4:30</c:v>
                </c:pt>
                <c:pt idx="10">
                  <c:v>5:00</c:v>
                </c:pt>
                <c:pt idx="11">
                  <c:v>5:30</c:v>
                </c:pt>
              </c:strCache>
            </c:strRef>
          </c:cat>
          <c:val>
            <c:numRef>
              <c:f>'Chart Data'!$F$2:$F$13</c:f>
              <c:numCache>
                <c:formatCode>0.0</c:formatCode>
                <c:ptCount val="12"/>
                <c:pt idx="0">
                  <c:v>28</c:v>
                </c:pt>
                <c:pt idx="1">
                  <c:v>28</c:v>
                </c:pt>
                <c:pt idx="2">
                  <c:v>28</c:v>
                </c:pt>
                <c:pt idx="3">
                  <c:v>28</c:v>
                </c:pt>
                <c:pt idx="4">
                  <c:v>28</c:v>
                </c:pt>
                <c:pt idx="5">
                  <c:v>28</c:v>
                </c:pt>
                <c:pt idx="6">
                  <c:v>28</c:v>
                </c:pt>
                <c:pt idx="7">
                  <c:v>28</c:v>
                </c:pt>
                <c:pt idx="8">
                  <c:v>28</c:v>
                </c:pt>
                <c:pt idx="9">
                  <c:v>28</c:v>
                </c:pt>
                <c:pt idx="10">
                  <c:v>28</c:v>
                </c:pt>
                <c:pt idx="11">
                  <c:v>28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Tiempo del modelo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878"/>
                </a:solidFill>
                <a:latin typeface="Arial"/>
                <a:ea typeface="Arial"/>
                <a:cs typeface="Arial"/>
              </a:defRPr>
            </a:pPr>
          </a:p>
        </c:txPr>
        <c:crossAx val="48672768"/>
      </c:catAx>
      <c:valAx>
        <c:axId val="48672768"/>
        <c:scaling>
          <c:orientation val="minMax"/>
          <c:max val="30"/>
          <c:min val="23"/>
        </c:scaling>
        <c:delete val="0"/>
        <c:axPos val="l"/>
        <c:majorGridlines>
          <c:spPr>
            <a:ln xmlns:a="http://schemas.openxmlformats.org/drawingml/2006/main" w="9525">
              <a:solidFill>
                <a:srgbClr val="DFE8ED"/>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Temperatura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878"/>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32A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4740D16-2F3E-4D53-A35E-DD00C6021921}"/>
              </a:ext>
            </a:extLst>
          </p:cNvPr>
          <p:cNvPicPr>
            <a:picLocks xmlns:a="http://schemas.openxmlformats.org/drawingml/2006/main" noChangeAspect="1"/>
          </p:cNvPicPr>
          <p:nvPr/>
        </p:nvPicPr>
        <p:blipFill>
          <a:blip xmlns:r="http://schemas.openxmlformats.org/officeDocument/2006/relationships" xmlns:a="http://schemas.openxmlformats.org/drawingml/2006/main" r:embed="R2bd0a03c14264b5c"/>
          <a:stretch xmlns:a="http://schemas.openxmlformats.org/drawingml/2006/main"/>
        </p:blipFill>
        <p:spPr>
          <a:xfrm xmlns:a="http://schemas.openxmlformats.org/drawingml/2006/main">
            <a:off x="615800" y="457200"/>
            <a:ext cx="2940351" cy="895350"/>
          </a:xfrm>
          <a:prstGeom xmlns:a="http://schemas.openxmlformats.org/drawingml/2006/main" prst="rect">
            <a:avLst/>
          </a:prstGeom>
        </p:spPr>
      </p:pic>
      <p:sp>
        <p:nvSpPr>
          <p:cNvPr id="2" name="texto-0">
            <a:extLst xmlns:a="http://schemas.openxmlformats.org/drawingml/2006/main">
              <a:ext uri="{FF2B5EF4-FFF2-40B4-BE49-F238E27FC236}">
                <a16:creationId xmlns:a16="http://schemas.microsoft.com/office/drawing/2014/main" id="{E50D9B80-ECC2-4B25-B257-C54DA1A0379A}"/>
              </a:ext>
            </a:extLst>
          </p:cNvPr>
          <p:cNvSpPr>
            <a:spLocks xmlns:a="http://schemas.openxmlformats.org/drawingml/2006/main" noGrp="1"/>
          </p:cNvSpPr>
          <p:nvPr/>
        </p:nvSpPr>
        <p:spPr>
          <a:xfrm xmlns:a="http://schemas.openxmlformats.org/drawingml/2006/main">
            <a:off x="609600" y="2095500"/>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5700" b="1">
                <a:solidFill>
                  <a:srgbClr val="132A3A"/>
                </a:solidFill>
                <a:latin typeface="Arial"/>
                <a:ea typeface="Arial"/>
                <a:cs typeface="Arial"/>
              </a:defRPr>
            </a:defPPr>
          </a:lstStyle>
          <a:p xmlns:a="http://schemas.openxmlformats.org/drawingml/2006/main">
            <a:pPr algn="l">
              <a:defRPr sz="5700" b="1">
                <a:solidFill>
                  <a:srgbClr val="132A3A"/>
                </a:solidFill>
                <a:latin typeface="Arial"/>
                <a:ea typeface="Arial"/>
                <a:cs typeface="Arial"/>
              </a:defRPr>
            </a:pPr>
            <a:r>
              <a:rPr sz="5700" b="1">
                <a:solidFill>
                  <a:srgbClr val="132A3A"/>
                </a:solidFill>
                <a:latin typeface="Arial"/>
                <a:ea typeface="Arial"/>
                <a:cs typeface="Arial"/>
              </a:rPr>
              <a:t>Monitoreo térmico</a:t>
            </a:r>
          </a:p>
          <a:p xmlns:a="http://schemas.openxmlformats.org/drawingml/2006/main">
            <a:pPr algn="l">
              <a:defRPr sz="5700" b="1">
                <a:solidFill>
                  <a:srgbClr val="132A3A"/>
                </a:solidFill>
                <a:latin typeface="Arial"/>
                <a:ea typeface="Arial"/>
                <a:cs typeface="Arial"/>
              </a:defRPr>
            </a:pPr>
            <a:r>
              <a:rPr sz="5700" b="1">
                <a:solidFill>
                  <a:srgbClr val="132A3A"/>
                </a:solidFill>
                <a:latin typeface="Arial"/>
                <a:ea typeface="Arial"/>
                <a:cs typeface="Arial"/>
              </a:rPr>
              <a:t>de un almacén</a:t>
            </a:r>
          </a:p>
        </p:txBody>
      </p:sp>
      <p:sp>
        <p:nvSpPr>
          <p:cNvPr id="3" name="texto-1">
            <a:extLst xmlns:a="http://schemas.openxmlformats.org/drawingml/2006/main">
              <a:ext uri="{FF2B5EF4-FFF2-40B4-BE49-F238E27FC236}">
                <a16:creationId xmlns:a16="http://schemas.microsoft.com/office/drawing/2014/main" id="{FDF75E91-1208-4976-8A92-07D8F04D7BB7}"/>
              </a:ext>
            </a:extLst>
          </p:cNvPr>
          <p:cNvSpPr>
            <a:spLocks xmlns:a="http://schemas.openxmlformats.org/drawingml/2006/main" noGrp="1"/>
          </p:cNvSpPr>
          <p:nvPr/>
        </p:nvSpPr>
        <p:spPr>
          <a:xfrm xmlns:a="http://schemas.openxmlformats.org/drawingml/2006/main">
            <a:off x="647700" y="40386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0">
                <a:solidFill>
                  <a:srgbClr val="007F86"/>
                </a:solidFill>
                <a:latin typeface="Arial"/>
                <a:ea typeface="Arial"/>
                <a:cs typeface="Arial"/>
              </a:defRPr>
            </a:defPPr>
          </a:lstStyle>
          <a:p xmlns:a="http://schemas.openxmlformats.org/drawingml/2006/main">
            <a:pPr algn="l">
              <a:defRPr sz="2400" b="0">
                <a:solidFill>
                  <a:srgbClr val="007F86"/>
                </a:solidFill>
                <a:latin typeface="Arial"/>
                <a:ea typeface="Arial"/>
                <a:cs typeface="Arial"/>
              </a:defRPr>
            </a:pPr>
            <a:r>
              <a:rPr sz="2400" b="0">
                <a:solidFill>
                  <a:srgbClr val="007F86"/>
                </a:solidFill>
                <a:latin typeface="Arial"/>
                <a:ea typeface="Arial"/>
                <a:cs typeface="Arial"/>
              </a:rPr>
              <a:t>Prototipo IoT con dos nodos virtuales</a:t>
            </a:r>
          </a:p>
        </p:txBody>
      </p:sp>
      <p:sp>
        <p:nvSpPr>
          <p:cNvPr id="4" name="texto-2">
            <a:extLst xmlns:a="http://schemas.openxmlformats.org/drawingml/2006/main">
              <a:ext uri="{FF2B5EF4-FFF2-40B4-BE49-F238E27FC236}">
                <a16:creationId xmlns:a16="http://schemas.microsoft.com/office/drawing/2014/main" id="{6EC84D8A-5649-4875-B063-69FD380F08BC}"/>
              </a:ext>
            </a:extLst>
          </p:cNvPr>
          <p:cNvSpPr>
            <a:spLocks xmlns:a="http://schemas.openxmlformats.org/drawingml/2006/main" noGrp="1"/>
          </p:cNvSpPr>
          <p:nvPr/>
        </p:nvSpPr>
        <p:spPr>
          <a:xfrm xmlns:a="http://schemas.openxmlformats.org/drawingml/2006/main">
            <a:off x="647700" y="5095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A3A"/>
                </a:solidFill>
                <a:latin typeface="Arial"/>
                <a:ea typeface="Arial"/>
                <a:cs typeface="Arial"/>
              </a:defRPr>
            </a:defPPr>
          </a:lstStyle>
          <a:p xmlns:a="http://schemas.openxmlformats.org/drawingml/2006/main">
            <a:pPr algn="l">
              <a:defRPr sz="2025" b="0">
                <a:solidFill>
                  <a:srgbClr val="132A3A"/>
                </a:solidFill>
                <a:latin typeface="Arial"/>
                <a:ea typeface="Arial"/>
                <a:cs typeface="Arial"/>
              </a:defRPr>
            </a:pPr>
            <a:r>
              <a:rPr sz="2025" b="0">
                <a:solidFill>
                  <a:srgbClr val="132A3A"/>
                </a:solidFill>
                <a:latin typeface="Arial"/>
                <a:ea typeface="Arial"/>
                <a:cs typeface="Arial"/>
              </a:rPr>
              <a:t>Jerson Fabian Esquen Rios</a:t>
            </a:r>
          </a:p>
          <a:p xmlns:a="http://schemas.openxmlformats.org/drawingml/2006/main">
            <a:pPr algn="l">
              <a:defRPr sz="2025" b="0">
                <a:solidFill>
                  <a:srgbClr val="132A3A"/>
                </a:solidFill>
                <a:latin typeface="Arial"/>
                <a:ea typeface="Arial"/>
                <a:cs typeface="Arial"/>
              </a:defRPr>
            </a:pPr>
            <a:r>
              <a:rPr sz="2025" b="0">
                <a:solidFill>
                  <a:srgbClr val="132A3A"/>
                </a:solidFill>
                <a:latin typeface="Arial"/>
                <a:ea typeface="Arial"/>
                <a:cs typeface="Arial"/>
              </a:rPr>
              <a:t>Alejandro Castillo Jara</a:t>
            </a:r>
          </a:p>
        </p:txBody>
      </p:sp>
      <p:sp>
        <p:nvSpPr>
          <p:cNvPr id="5" name="texto-3">
            <a:extLst xmlns:a="http://schemas.openxmlformats.org/drawingml/2006/main">
              <a:ext uri="{FF2B5EF4-FFF2-40B4-BE49-F238E27FC236}">
                <a16:creationId xmlns:a16="http://schemas.microsoft.com/office/drawing/2014/main" id="{D3E3468B-C421-47E2-942E-4AD18C06F7A1}"/>
              </a:ext>
            </a:extLst>
          </p:cNvPr>
          <p:cNvSpPr>
            <a:spLocks xmlns:a="http://schemas.openxmlformats.org/drawingml/2006/main" noGrp="1"/>
          </p:cNvSpPr>
          <p:nvPr/>
        </p:nvSpPr>
        <p:spPr>
          <a:xfrm xmlns:a="http://schemas.openxmlformats.org/drawingml/2006/main">
            <a:off x="647700" y="62769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26878"/>
                </a:solidFill>
                <a:latin typeface="Arial"/>
                <a:ea typeface="Arial"/>
                <a:cs typeface="Arial"/>
              </a:defRPr>
            </a:defPPr>
          </a:lstStyle>
          <a:p xmlns:a="http://schemas.openxmlformats.org/drawingml/2006/main">
            <a:pPr algn="l">
              <a:defRPr sz="1650" b="0">
                <a:solidFill>
                  <a:srgbClr val="526878"/>
                </a:solidFill>
                <a:latin typeface="Arial"/>
                <a:ea typeface="Arial"/>
                <a:cs typeface="Arial"/>
              </a:defRPr>
            </a:pPr>
            <a:r>
              <a:rPr sz="1650" b="0">
                <a:solidFill>
                  <a:srgbClr val="526878"/>
                </a:solidFill>
                <a:latin typeface="Arial"/>
                <a:ea typeface="Arial"/>
                <a:cs typeface="Arial"/>
              </a:rPr>
              <a:t>Herramientas de Desarrollo Profesional TIC   TA3   2026</a:t>
            </a:r>
          </a:p>
        </p:txBody>
      </p:sp>
    </p:spTree>
    <p:extLst>
      <p:ext uri="{BB962C8B-B14F-4D97-AF65-F5344CB8AC3E}">
        <p14:creationId xmlns:p14="http://schemas.microsoft.com/office/powerpoint/2010/main" val="485513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o-0">
            <a:extLst xmlns:a="http://schemas.openxmlformats.org/drawingml/2006/main">
              <a:ext uri="{FF2B5EF4-FFF2-40B4-BE49-F238E27FC236}">
                <a16:creationId xmlns:a16="http://schemas.microsoft.com/office/drawing/2014/main" id="{63E97240-DF6F-4476-A73E-A2A4AB01BEBE}"/>
              </a:ext>
            </a:extLst>
          </p:cNvPr>
          <p:cNvSpPr>
            <a:spLocks xmlns:a="http://schemas.openxmlformats.org/drawingml/2006/main" noGrp="1"/>
          </p:cNvSpPr>
          <p:nvPr/>
        </p:nvSpPr>
        <p:spPr>
          <a:xfrm xmlns:a="http://schemas.openxmlformats.org/drawingml/2006/main">
            <a:off x="609600" y="45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132A3A"/>
                </a:solidFill>
                <a:latin typeface="Arial"/>
                <a:ea typeface="Arial"/>
                <a:cs typeface="Arial"/>
              </a:defRPr>
            </a:defPPr>
          </a:lstStyle>
          <a:p xmlns:a="http://schemas.openxmlformats.org/drawingml/2006/main">
            <a:pPr algn="l">
              <a:defRPr sz="3300" b="1">
                <a:solidFill>
                  <a:srgbClr val="132A3A"/>
                </a:solidFill>
                <a:latin typeface="Arial"/>
                <a:ea typeface="Arial"/>
                <a:cs typeface="Arial"/>
              </a:defRPr>
            </a:pPr>
            <a:r>
              <a:rPr sz="3300" b="1">
                <a:solidFill>
                  <a:srgbClr val="132A3A"/>
                </a:solidFill>
                <a:latin typeface="Arial"/>
                <a:ea typeface="Arial"/>
                <a:cs typeface="Arial"/>
              </a:rPr>
              <a:t>Contexto y problema</a:t>
            </a:r>
          </a:p>
        </p:txBody>
      </p:sp>
      <p:sp>
        <p:nvSpPr>
          <p:cNvPr id="2" name="texto-1">
            <a:extLst xmlns:a="http://schemas.openxmlformats.org/drawingml/2006/main">
              <a:ext uri="{FF2B5EF4-FFF2-40B4-BE49-F238E27FC236}">
                <a16:creationId xmlns:a16="http://schemas.microsoft.com/office/drawing/2014/main" id="{EA31D195-350A-4773-8834-ED8059BA601C}"/>
              </a:ext>
            </a:extLst>
          </p:cNvPr>
          <p:cNvSpPr>
            <a:spLocks xmlns:a="http://schemas.openxmlformats.org/drawingml/2006/main" noGrp="1"/>
          </p:cNvSpPr>
          <p:nvPr/>
        </p:nvSpPr>
        <p:spPr>
          <a:xfrm xmlns:a="http://schemas.openxmlformats.org/drawingml/2006/main">
            <a:off x="609600" y="6438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878"/>
                </a:solidFill>
                <a:latin typeface="Arial"/>
                <a:ea typeface="Arial"/>
                <a:cs typeface="Arial"/>
              </a:defRPr>
            </a:defPPr>
          </a:lstStyle>
          <a:p xmlns:a="http://schemas.openxmlformats.org/drawingml/2006/main">
            <a:pPr algn="l">
              <a:defRPr sz="1350" b="0">
                <a:solidFill>
                  <a:srgbClr val="526878"/>
                </a:solidFill>
                <a:latin typeface="Arial"/>
                <a:ea typeface="Arial"/>
                <a:cs typeface="Arial"/>
              </a:defRPr>
            </a:pPr>
            <a:r>
              <a:rPr sz="1350" b="0">
                <a:solidFill>
                  <a:srgbClr val="526878"/>
                </a:solidFill>
                <a:latin typeface="Arial"/>
                <a:ea typeface="Arial"/>
                <a:cs typeface="Arial"/>
              </a:rPr>
              <a:t>TA3  02</a:t>
            </a:r>
          </a:p>
        </p:txBody>
      </p:sp>
      <p:sp>
        <p:nvSpPr>
          <p:cNvPr id="3" name="texto-2">
            <a:extLst xmlns:a="http://schemas.openxmlformats.org/drawingml/2006/main">
              <a:ext uri="{FF2B5EF4-FFF2-40B4-BE49-F238E27FC236}">
                <a16:creationId xmlns:a16="http://schemas.microsoft.com/office/drawing/2014/main" id="{F25368E2-3DF4-4BDD-8744-73BCB3E436F0}"/>
              </a:ext>
            </a:extLst>
          </p:cNvPr>
          <p:cNvSpPr>
            <a:spLocks xmlns:a="http://schemas.openxmlformats.org/drawingml/2006/main" noGrp="1"/>
          </p:cNvSpPr>
          <p:nvPr/>
        </p:nvSpPr>
        <p:spPr>
          <a:xfrm xmlns:a="http://schemas.openxmlformats.org/drawingml/2006/main">
            <a:off x="609600" y="1304925"/>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1">
                <a:solidFill>
                  <a:srgbClr val="007F86"/>
                </a:solidFill>
                <a:latin typeface="Arial"/>
                <a:ea typeface="Arial"/>
                <a:cs typeface="Arial"/>
              </a:defRPr>
            </a:defPPr>
          </a:lstStyle>
          <a:p xmlns:a="http://schemas.openxmlformats.org/drawingml/2006/main">
            <a:pPr algn="l">
              <a:defRPr sz="2325" b="1">
                <a:solidFill>
                  <a:srgbClr val="007F86"/>
                </a:solidFill>
                <a:latin typeface="Arial"/>
                <a:ea typeface="Arial"/>
                <a:cs typeface="Arial"/>
              </a:defRPr>
            </a:pPr>
            <a:r>
              <a:rPr sz="2325" b="1">
                <a:solidFill>
                  <a:srgbClr val="007F86"/>
                </a:solidFill>
                <a:latin typeface="Arial"/>
                <a:ea typeface="Arial"/>
                <a:cs typeface="Arial"/>
              </a:rPr>
              <a:t>Centro de distribución de detergentes líquidos y jabones envasados</a:t>
            </a:r>
          </a:p>
        </p:txBody>
      </p:sp>
      <p:sp>
        <p:nvSpPr>
          <p:cNvPr id="4" name="ALM-01&#10;Almacenamiento">
            <a:extLst xmlns:a="http://schemas.openxmlformats.org/drawingml/2006/main">
              <a:ext uri="{FF2B5EF4-FFF2-40B4-BE49-F238E27FC236}">
                <a16:creationId xmlns:a16="http://schemas.microsoft.com/office/drawing/2014/main" id="{8770AAF1-F32D-4D6C-9DCF-136087C216C1}"/>
              </a:ext>
            </a:extLst>
          </p:cNvPr>
          <p:cNvSpPr>
            <a:spLocks xmlns:a="http://schemas.openxmlformats.org/drawingml/2006/main" noGrp="1"/>
          </p:cNvSpPr>
          <p:nvPr/>
        </p:nvSpPr>
        <p:spPr>
          <a:xfrm xmlns:a="http://schemas.openxmlformats.org/drawingml/2006/main">
            <a:off x="609600" y="2381250"/>
            <a:ext cx="3857625" cy="1352550"/>
          </a:xfrm>
          <a:prstGeom xmlns:a="http://schemas.openxmlformats.org/drawingml/2006/main" prst="roundRect">
            <a:avLst>
              <a:gd name="adj" fmla="val 7042"/>
            </a:avLst>
          </a:prstGeom>
          <a:solidFill xmlns:a="http://schemas.openxmlformats.org/drawingml/2006/main">
            <a:srgbClr val="F5F9FA"/>
          </a:solidFill>
          <a:ln xmlns:a="http://schemas.openxmlformats.org/drawingml/2006/main" w="19050">
            <a:solidFill>
              <a:srgbClr val="287AC3"/>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ALM-01</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Almacenamiento</a:t>
            </a:r>
          </a:p>
        </p:txBody>
      </p:sp>
      <p:sp>
        <p:nvSpPr>
          <p:cNvPr id="5" name="ALM-02&#10;Recepción y despacho">
            <a:extLst xmlns:a="http://schemas.openxmlformats.org/drawingml/2006/main">
              <a:ext uri="{FF2B5EF4-FFF2-40B4-BE49-F238E27FC236}">
                <a16:creationId xmlns:a16="http://schemas.microsoft.com/office/drawing/2014/main" id="{5AF723AC-27BF-4A70-BE88-65FE4AB0A13E}"/>
              </a:ext>
            </a:extLst>
          </p:cNvPr>
          <p:cNvSpPr>
            <a:spLocks xmlns:a="http://schemas.openxmlformats.org/drawingml/2006/main" noGrp="1"/>
          </p:cNvSpPr>
          <p:nvPr/>
        </p:nvSpPr>
        <p:spPr>
          <a:xfrm xmlns:a="http://schemas.openxmlformats.org/drawingml/2006/main">
            <a:off x="609600" y="4048125"/>
            <a:ext cx="3857625" cy="1352550"/>
          </a:xfrm>
          <a:prstGeom xmlns:a="http://schemas.openxmlformats.org/drawingml/2006/main" prst="roundRect">
            <a:avLst>
              <a:gd name="adj" fmla="val 7042"/>
            </a:avLst>
          </a:prstGeom>
          <a:solidFill xmlns:a="http://schemas.openxmlformats.org/drawingml/2006/main">
            <a:srgbClr val="F5F9FA"/>
          </a:solidFill>
          <a:ln xmlns:a="http://schemas.openxmlformats.org/drawingml/2006/main" w="19050">
            <a:solidFill>
              <a:srgbClr val="B86712"/>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ALM-02</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Recepción y despacho</a:t>
            </a:r>
          </a:p>
        </p:txBody>
      </p:sp>
      <p:sp>
        <p:nvSpPr>
          <p:cNvPr id="6" name="texto-5">
            <a:extLst xmlns:a="http://schemas.openxmlformats.org/drawingml/2006/main">
              <a:ext uri="{FF2B5EF4-FFF2-40B4-BE49-F238E27FC236}">
                <a16:creationId xmlns:a16="http://schemas.microsoft.com/office/drawing/2014/main" id="{613942E3-C3F8-42CC-8CF5-E36CDA6F95E7}"/>
              </a:ext>
            </a:extLst>
          </p:cNvPr>
          <p:cNvSpPr>
            <a:spLocks xmlns:a="http://schemas.openxmlformats.org/drawingml/2006/main" noGrp="1"/>
          </p:cNvSpPr>
          <p:nvPr/>
        </p:nvSpPr>
        <p:spPr>
          <a:xfrm xmlns:a="http://schemas.openxmlformats.org/drawingml/2006/main">
            <a:off x="5143500" y="233362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132A3A"/>
                </a:solidFill>
                <a:latin typeface="Arial"/>
                <a:ea typeface="Arial"/>
                <a:cs typeface="Arial"/>
              </a:defRPr>
            </a:defPPr>
          </a:lstStyle>
          <a:p xmlns:a="http://schemas.openxmlformats.org/drawingml/2006/main">
            <a:pPr algn="l">
              <a:defRPr sz="2250" b="1">
                <a:solidFill>
                  <a:srgbClr val="132A3A"/>
                </a:solidFill>
                <a:latin typeface="Arial"/>
                <a:ea typeface="Arial"/>
                <a:cs typeface="Arial"/>
              </a:defRPr>
            </a:pPr>
            <a:r>
              <a:rPr sz="2250" b="1">
                <a:solidFill>
                  <a:srgbClr val="132A3A"/>
                </a:solidFill>
                <a:latin typeface="Arial"/>
                <a:ea typeface="Arial"/>
                <a:cs typeface="Arial"/>
              </a:rPr>
              <a:t>Problema planteado</a:t>
            </a:r>
          </a:p>
        </p:txBody>
      </p:sp>
      <p:sp>
        <p:nvSpPr>
          <p:cNvPr id="7" name="texto-6">
            <a:extLst xmlns:a="http://schemas.openxmlformats.org/drawingml/2006/main">
              <a:ext uri="{FF2B5EF4-FFF2-40B4-BE49-F238E27FC236}">
                <a16:creationId xmlns:a16="http://schemas.microsoft.com/office/drawing/2014/main" id="{E317230D-8323-4E32-A499-81145820E0A5}"/>
              </a:ext>
            </a:extLst>
          </p:cNvPr>
          <p:cNvSpPr>
            <a:spLocks xmlns:a="http://schemas.openxmlformats.org/drawingml/2006/main" noGrp="1"/>
          </p:cNvSpPr>
          <p:nvPr/>
        </p:nvSpPr>
        <p:spPr>
          <a:xfrm xmlns:a="http://schemas.openxmlformats.org/drawingml/2006/main">
            <a:off x="5143500" y="2886075"/>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32A3A"/>
                </a:solidFill>
                <a:latin typeface="Arial"/>
                <a:ea typeface="Arial"/>
                <a:cs typeface="Arial"/>
              </a:defRPr>
            </a:defPPr>
          </a:lstStyle>
          <a:p xmlns:a="http://schemas.openxmlformats.org/drawingml/2006/main">
            <a:pPr algn="l">
              <a:defRPr sz="2100" b="0">
                <a:solidFill>
                  <a:srgbClr val="132A3A"/>
                </a:solidFill>
                <a:latin typeface="Arial"/>
                <a:ea typeface="Arial"/>
                <a:cs typeface="Arial"/>
              </a:defRPr>
            </a:pPr>
            <a:r>
              <a:rPr sz="2100" b="0">
                <a:solidFill>
                  <a:srgbClr val="132A3A"/>
                </a:solidFill>
                <a:latin typeface="Arial"/>
                <a:ea typeface="Arial"/>
                <a:cs typeface="Arial"/>
              </a:rPr>
              <a:t>Las revisiones ocasionales dejan períodos sin información.</a:t>
            </a:r>
          </a:p>
        </p:txBody>
      </p:sp>
      <p:sp>
        <p:nvSpPr>
          <p:cNvPr id="8" name="texto-7">
            <a:extLst xmlns:a="http://schemas.openxmlformats.org/drawingml/2006/main">
              <a:ext uri="{FF2B5EF4-FFF2-40B4-BE49-F238E27FC236}">
                <a16:creationId xmlns:a16="http://schemas.microsoft.com/office/drawing/2014/main" id="{78CF4F81-110F-4C13-89C8-449B56E4C1EC}"/>
              </a:ext>
            </a:extLst>
          </p:cNvPr>
          <p:cNvSpPr>
            <a:spLocks xmlns:a="http://schemas.openxmlformats.org/drawingml/2006/main" noGrp="1"/>
          </p:cNvSpPr>
          <p:nvPr/>
        </p:nvSpPr>
        <p:spPr>
          <a:xfrm xmlns:a="http://schemas.openxmlformats.org/drawingml/2006/main">
            <a:off x="5143500" y="39243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32A3A"/>
                </a:solidFill>
                <a:latin typeface="Arial"/>
                <a:ea typeface="Arial"/>
                <a:cs typeface="Arial"/>
              </a:defRPr>
            </a:defPPr>
          </a:lstStyle>
          <a:p xmlns:a="http://schemas.openxmlformats.org/drawingml/2006/main">
            <a:pPr algn="l">
              <a:defRPr sz="2100" b="0">
                <a:solidFill>
                  <a:srgbClr val="132A3A"/>
                </a:solidFill>
                <a:latin typeface="Arial"/>
                <a:ea typeface="Arial"/>
                <a:cs typeface="Arial"/>
              </a:defRPr>
            </a:pPr>
            <a:r>
              <a:rPr sz="2100" b="0">
                <a:solidFill>
                  <a:srgbClr val="132A3A"/>
                </a:solidFill>
                <a:latin typeface="Arial"/>
                <a:ea typeface="Arial"/>
                <a:cs typeface="Arial"/>
              </a:rPr>
              <a:t>No existe un historial centralizado para comparar ambas zonas.</a:t>
            </a:r>
          </a:p>
        </p:txBody>
      </p:sp>
      <p:sp>
        <p:nvSpPr>
          <p:cNvPr id="9" name="texto-8">
            <a:extLst xmlns:a="http://schemas.openxmlformats.org/drawingml/2006/main">
              <a:ext uri="{FF2B5EF4-FFF2-40B4-BE49-F238E27FC236}">
                <a16:creationId xmlns:a16="http://schemas.microsoft.com/office/drawing/2014/main" id="{1CB241BF-6390-4216-BBE4-FB6E15302D4D}"/>
              </a:ext>
            </a:extLst>
          </p:cNvPr>
          <p:cNvSpPr>
            <a:spLocks xmlns:a="http://schemas.openxmlformats.org/drawingml/2006/main" noGrp="1"/>
          </p:cNvSpPr>
          <p:nvPr/>
        </p:nvSpPr>
        <p:spPr>
          <a:xfrm xmlns:a="http://schemas.openxmlformats.org/drawingml/2006/main">
            <a:off x="5143500" y="5095875"/>
            <a:ext cx="6191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007F86"/>
                </a:solidFill>
                <a:latin typeface="Arial"/>
                <a:ea typeface="Arial"/>
                <a:cs typeface="Arial"/>
              </a:defRPr>
            </a:defPPr>
          </a:lstStyle>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Objetivo: consultar temperaturas e identificar variaciones.</a:t>
            </a:r>
          </a:p>
        </p:txBody>
      </p:sp>
    </p:spTree>
    <p:extLst>
      <p:ext uri="{BB962C8B-B14F-4D97-AF65-F5344CB8AC3E}">
        <p14:creationId xmlns:p14="http://schemas.microsoft.com/office/powerpoint/2010/main" val="95557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B1CC07A-A66E-42E9-BE5D-3ED55A9316B7}"/>
              </a:ext>
            </a:extLst>
          </p:cNvPr>
          <p:cNvCxnSpPr>
            <a:stCxn xmlns:a="http://schemas.openxmlformats.org/drawingml/2006/main" id="8" idx="2"/>
            <a:endCxn xmlns:a="http://schemas.openxmlformats.org/drawingml/2006/main" id="9" idx="0"/>
          </p:cNvCxnSpPr>
          <p:nvPr/>
        </p:nvCxnSpPr>
        <p:spPr>
          <a:xfrm xmlns:a="http://schemas.openxmlformats.org/drawingml/2006/main">
            <a:off x="9782175" y="4324350"/>
            <a:ext cx="0" cy="733425"/>
          </a:xfrm>
          <a:prstGeom xmlns:a="http://schemas.openxmlformats.org/drawingml/2006/main" prst="straightConnector1">
            <a:avLst/>
          </a:prstGeom>
          <a:ln xmlns:a="http://schemas.openxmlformats.org/drawingml/2006/main" w="23813">
            <a:solidFill>
              <a:srgbClr val="007F86"/>
            </a:solidFill>
            <a:headEnd type="arrow" w="med" len="med"/>
            <a:tailEnd type="arrow" w="med" len="med"/>
          </a:ln>
        </p:spPr>
      </p:cxnSp>
      <p:cxnSp>
        <p:nvCxnSpPr>
          <p:cNvPr id="13" name="">
            <a:extLst xmlns:a="http://schemas.openxmlformats.org/drawingml/2006/main">
              <a:ext uri="{FF2B5EF4-FFF2-40B4-BE49-F238E27FC236}">
                <a16:creationId xmlns:a16="http://schemas.microsoft.com/office/drawing/2014/main" id="{A2DEB17E-A9FC-4DE2-9480-1A497B2A102F}"/>
              </a:ext>
            </a:extLst>
          </p:cNvPr>
          <p:cNvCxnSpPr>
            <a:stCxn xmlns:a="http://schemas.openxmlformats.org/drawingml/2006/main" id="7" idx="3"/>
            <a:endCxn xmlns:a="http://schemas.openxmlformats.org/drawingml/2006/main" id="8" idx="1"/>
          </p:cNvCxnSpPr>
          <p:nvPr/>
        </p:nvCxnSpPr>
        <p:spPr>
          <a:xfrm xmlns:a="http://schemas.openxmlformats.org/drawingml/2006/main">
            <a:off x="7896225" y="3729038"/>
            <a:ext cx="74295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12" name="">
            <a:extLst xmlns:a="http://schemas.openxmlformats.org/drawingml/2006/main">
              <a:ext uri="{FF2B5EF4-FFF2-40B4-BE49-F238E27FC236}">
                <a16:creationId xmlns:a16="http://schemas.microsoft.com/office/drawing/2014/main" id="{E69E8377-8017-4962-89EE-3626815A544D}"/>
              </a:ext>
            </a:extLst>
          </p:cNvPr>
          <p:cNvCxnSpPr>
            <a:stCxn xmlns:a="http://schemas.openxmlformats.org/drawingml/2006/main" id="6" idx="3"/>
            <a:endCxn xmlns:a="http://schemas.openxmlformats.org/drawingml/2006/main" id="7" idx="1"/>
          </p:cNvCxnSpPr>
          <p:nvPr/>
        </p:nvCxnSpPr>
        <p:spPr>
          <a:xfrm xmlns:a="http://schemas.openxmlformats.org/drawingml/2006/main">
            <a:off x="5000625" y="3729038"/>
            <a:ext cx="657225"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11" name="">
            <a:extLst xmlns:a="http://schemas.openxmlformats.org/drawingml/2006/main">
              <a:ext uri="{FF2B5EF4-FFF2-40B4-BE49-F238E27FC236}">
                <a16:creationId xmlns:a16="http://schemas.microsoft.com/office/drawing/2014/main" id="{2855CF8E-527B-4B1E-950E-DEE0F22E6DD2}"/>
              </a:ext>
            </a:extLst>
          </p:cNvPr>
          <p:cNvCxnSpPr>
            <a:stCxn xmlns:a="http://schemas.openxmlformats.org/drawingml/2006/main" id="5" idx="3"/>
            <a:endCxn xmlns:a="http://schemas.openxmlformats.org/drawingml/2006/main" id="6" idx="1"/>
          </p:cNvCxnSpPr>
          <p:nvPr/>
        </p:nvCxnSpPr>
        <p:spPr>
          <a:xfrm xmlns:a="http://schemas.openxmlformats.org/drawingml/2006/main" flipV="1">
            <a:off x="2514600" y="3729038"/>
            <a:ext cx="676275" cy="757238"/>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10" name="">
            <a:extLst xmlns:a="http://schemas.openxmlformats.org/drawingml/2006/main">
              <a:ext uri="{FF2B5EF4-FFF2-40B4-BE49-F238E27FC236}">
                <a16:creationId xmlns:a16="http://schemas.microsoft.com/office/drawing/2014/main" id="{9B08EE36-12C6-4846-AAF9-B12A4E2F406B}"/>
              </a:ext>
            </a:extLst>
          </p:cNvPr>
          <p:cNvCxnSpPr>
            <a:stCxn xmlns:a="http://schemas.openxmlformats.org/drawingml/2006/main" id="4" idx="3"/>
            <a:endCxn xmlns:a="http://schemas.openxmlformats.org/drawingml/2006/main" id="6" idx="1"/>
          </p:cNvCxnSpPr>
          <p:nvPr/>
        </p:nvCxnSpPr>
        <p:spPr>
          <a:xfrm xmlns:a="http://schemas.openxmlformats.org/drawingml/2006/main">
            <a:off x="2514600" y="2933700"/>
            <a:ext cx="676275" cy="795338"/>
          </a:xfrm>
          <a:prstGeom xmlns:a="http://schemas.openxmlformats.org/drawingml/2006/main" prst="straightConnector1">
            <a:avLst/>
          </a:prstGeom>
          <a:ln xmlns:a="http://schemas.openxmlformats.org/drawingml/2006/main" w="23813">
            <a:solidFill>
              <a:srgbClr val="007F86"/>
            </a:solidFill>
            <a:tailEnd type="arrow" w="med" len="med"/>
          </a:ln>
        </p:spPr>
      </p:cxnSp>
      <p:sp>
        <p:nvSpPr>
          <p:cNvPr id="20" name="texto-0">
            <a:extLst xmlns:a="http://schemas.openxmlformats.org/drawingml/2006/main">
              <a:ext uri="{FF2B5EF4-FFF2-40B4-BE49-F238E27FC236}">
                <a16:creationId xmlns:a16="http://schemas.microsoft.com/office/drawing/2014/main" id="{7B53F9D4-27DE-4040-8181-4F3E2249CD4D}"/>
              </a:ext>
            </a:extLst>
          </p:cNvPr>
          <p:cNvSpPr>
            <a:spLocks xmlns:a="http://schemas.openxmlformats.org/drawingml/2006/main" noGrp="1"/>
          </p:cNvSpPr>
          <p:nvPr/>
        </p:nvSpPr>
        <p:spPr>
          <a:xfrm xmlns:a="http://schemas.openxmlformats.org/drawingml/2006/main">
            <a:off x="609600" y="45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132A3A"/>
                </a:solidFill>
                <a:latin typeface="Arial"/>
                <a:ea typeface="Arial"/>
                <a:cs typeface="Arial"/>
              </a:defRPr>
            </a:defPPr>
          </a:lstStyle>
          <a:p xmlns:a="http://schemas.openxmlformats.org/drawingml/2006/main">
            <a:pPr algn="l">
              <a:defRPr sz="3300" b="1">
                <a:solidFill>
                  <a:srgbClr val="132A3A"/>
                </a:solidFill>
                <a:latin typeface="Arial"/>
                <a:ea typeface="Arial"/>
                <a:cs typeface="Arial"/>
              </a:defRPr>
            </a:pPr>
            <a:r>
              <a:rPr sz="3300" b="1">
                <a:solidFill>
                  <a:srgbClr val="132A3A"/>
                </a:solidFill>
                <a:latin typeface="Arial"/>
                <a:ea typeface="Arial"/>
                <a:cs typeface="Arial"/>
              </a:rPr>
              <a:t>Arquitectura del prototipo</a:t>
            </a:r>
          </a:p>
        </p:txBody>
      </p:sp>
      <p:sp>
        <p:nvSpPr>
          <p:cNvPr id="2" name="texto-1">
            <a:extLst xmlns:a="http://schemas.openxmlformats.org/drawingml/2006/main">
              <a:ext uri="{FF2B5EF4-FFF2-40B4-BE49-F238E27FC236}">
                <a16:creationId xmlns:a16="http://schemas.microsoft.com/office/drawing/2014/main" id="{94CE920A-EECA-4AEA-ACD7-404FE040E787}"/>
              </a:ext>
            </a:extLst>
          </p:cNvPr>
          <p:cNvSpPr>
            <a:spLocks xmlns:a="http://schemas.openxmlformats.org/drawingml/2006/main" noGrp="1"/>
          </p:cNvSpPr>
          <p:nvPr/>
        </p:nvSpPr>
        <p:spPr>
          <a:xfrm xmlns:a="http://schemas.openxmlformats.org/drawingml/2006/main">
            <a:off x="609600" y="6438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878"/>
                </a:solidFill>
                <a:latin typeface="Arial"/>
                <a:ea typeface="Arial"/>
                <a:cs typeface="Arial"/>
              </a:defRPr>
            </a:defPPr>
          </a:lstStyle>
          <a:p xmlns:a="http://schemas.openxmlformats.org/drawingml/2006/main">
            <a:pPr algn="l">
              <a:defRPr sz="1350" b="0">
                <a:solidFill>
                  <a:srgbClr val="526878"/>
                </a:solidFill>
                <a:latin typeface="Arial"/>
                <a:ea typeface="Arial"/>
                <a:cs typeface="Arial"/>
              </a:defRPr>
            </a:pPr>
            <a:r>
              <a:rPr sz="1350" b="0">
                <a:solidFill>
                  <a:srgbClr val="526878"/>
                </a:solidFill>
                <a:latin typeface="Arial"/>
                <a:ea typeface="Arial"/>
                <a:cs typeface="Arial"/>
              </a:rPr>
              <a:t>TA3  03</a:t>
            </a:r>
          </a:p>
        </p:txBody>
      </p:sp>
      <p:sp>
        <p:nvSpPr>
          <p:cNvPr id="3" name="texto-2">
            <a:extLst xmlns:a="http://schemas.openxmlformats.org/drawingml/2006/main">
              <a:ext uri="{FF2B5EF4-FFF2-40B4-BE49-F238E27FC236}">
                <a16:creationId xmlns:a16="http://schemas.microsoft.com/office/drawing/2014/main" id="{51702141-0EE3-43CD-BEB8-F42656260B12}"/>
              </a:ext>
            </a:extLst>
          </p:cNvPr>
          <p:cNvSpPr>
            <a:spLocks xmlns:a="http://schemas.openxmlformats.org/drawingml/2006/main" noGrp="1"/>
          </p:cNvSpPr>
          <p:nvPr/>
        </p:nvSpPr>
        <p:spPr>
          <a:xfrm xmlns:a="http://schemas.openxmlformats.org/drawingml/2006/main">
            <a:off x="609600" y="12573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526878"/>
                </a:solidFill>
                <a:latin typeface="Arial"/>
                <a:ea typeface="Arial"/>
                <a:cs typeface="Arial"/>
              </a:defRPr>
            </a:defPPr>
          </a:lstStyle>
          <a:p xmlns:a="http://schemas.openxmlformats.org/drawingml/2006/main">
            <a:pPr algn="l">
              <a:defRPr sz="2100" b="0">
                <a:solidFill>
                  <a:srgbClr val="526878"/>
                </a:solidFill>
                <a:latin typeface="Arial"/>
                <a:ea typeface="Arial"/>
                <a:cs typeface="Arial"/>
              </a:defRPr>
            </a:pPr>
            <a:r>
              <a:rPr sz="2100" b="0">
                <a:solidFill>
                  <a:srgbClr val="526878"/>
                </a:solidFill>
                <a:latin typeface="Arial"/>
                <a:ea typeface="Arial"/>
                <a:cs typeface="Arial"/>
              </a:rPr>
              <a:t>Seis contenedores conectados mediante la red virtual ta3_red_iot</a:t>
            </a:r>
          </a:p>
        </p:txBody>
      </p:sp>
      <p:sp>
        <p:nvSpPr>
          <p:cNvPr id="4" name="ALM-01&#10;nodo_a">
            <a:extLst xmlns:a="http://schemas.openxmlformats.org/drawingml/2006/main">
              <a:ext uri="{FF2B5EF4-FFF2-40B4-BE49-F238E27FC236}">
                <a16:creationId xmlns:a16="http://schemas.microsoft.com/office/drawing/2014/main" id="{DBC9E434-2A4F-478C-9374-ECDE45820319}"/>
              </a:ext>
            </a:extLst>
          </p:cNvPr>
          <p:cNvSpPr>
            <a:spLocks xmlns:a="http://schemas.openxmlformats.org/drawingml/2006/main" noGrp="1"/>
          </p:cNvSpPr>
          <p:nvPr/>
        </p:nvSpPr>
        <p:spPr>
          <a:xfrm xmlns:a="http://schemas.openxmlformats.org/drawingml/2006/main">
            <a:off x="609600" y="2409825"/>
            <a:ext cx="1905000" cy="1047750"/>
          </a:xfrm>
          <a:prstGeom xmlns:a="http://schemas.openxmlformats.org/drawingml/2006/main" prst="roundRect">
            <a:avLst>
              <a:gd name="adj" fmla="val 9091"/>
            </a:avLst>
          </a:prstGeom>
          <a:solidFill xmlns:a="http://schemas.openxmlformats.org/drawingml/2006/main">
            <a:srgbClr val="F5F9FA"/>
          </a:solidFill>
          <a:ln xmlns:a="http://schemas.openxmlformats.org/drawingml/2006/main" w="19050">
            <a:solidFill>
              <a:srgbClr val="287AC3"/>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ALM-01</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nodo_a</a:t>
            </a:r>
          </a:p>
        </p:txBody>
      </p:sp>
      <p:sp>
        <p:nvSpPr>
          <p:cNvPr id="5" name="ALM-02&#10;nodo_b">
            <a:extLst xmlns:a="http://schemas.openxmlformats.org/drawingml/2006/main">
              <a:ext uri="{FF2B5EF4-FFF2-40B4-BE49-F238E27FC236}">
                <a16:creationId xmlns:a16="http://schemas.microsoft.com/office/drawing/2014/main" id="{B0B5317A-B9B5-4422-86C7-5550F4C4D18D}"/>
              </a:ext>
            </a:extLst>
          </p:cNvPr>
          <p:cNvSpPr>
            <a:spLocks xmlns:a="http://schemas.openxmlformats.org/drawingml/2006/main" noGrp="1"/>
          </p:cNvSpPr>
          <p:nvPr/>
        </p:nvSpPr>
        <p:spPr>
          <a:xfrm xmlns:a="http://schemas.openxmlformats.org/drawingml/2006/main">
            <a:off x="609600" y="3962400"/>
            <a:ext cx="1905000" cy="1047750"/>
          </a:xfrm>
          <a:prstGeom xmlns:a="http://schemas.openxmlformats.org/drawingml/2006/main" prst="roundRect">
            <a:avLst>
              <a:gd name="adj" fmla="val 9091"/>
            </a:avLst>
          </a:prstGeom>
          <a:solidFill xmlns:a="http://schemas.openxmlformats.org/drawingml/2006/main">
            <a:srgbClr val="F5F9FA"/>
          </a:solidFill>
          <a:ln xmlns:a="http://schemas.openxmlformats.org/drawingml/2006/main" w="19050">
            <a:solidFill>
              <a:srgbClr val="B86712"/>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ALM-02</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nodo_b</a:t>
            </a:r>
          </a:p>
        </p:txBody>
      </p:sp>
      <p:sp>
        <p:nvSpPr>
          <p:cNvPr id="6" name="EMQX&#10;Broker MQTT">
            <a:extLst xmlns:a="http://schemas.openxmlformats.org/drawingml/2006/main">
              <a:ext uri="{FF2B5EF4-FFF2-40B4-BE49-F238E27FC236}">
                <a16:creationId xmlns:a16="http://schemas.microsoft.com/office/drawing/2014/main" id="{6B1DAC30-CD69-49B8-82F5-95F65C6FE0CC}"/>
              </a:ext>
            </a:extLst>
          </p:cNvPr>
          <p:cNvSpPr>
            <a:spLocks xmlns:a="http://schemas.openxmlformats.org/drawingml/2006/main" noGrp="1"/>
          </p:cNvSpPr>
          <p:nvPr/>
        </p:nvSpPr>
        <p:spPr>
          <a:xfrm xmlns:a="http://schemas.openxmlformats.org/drawingml/2006/main">
            <a:off x="3190875" y="3133725"/>
            <a:ext cx="1809750" cy="1190625"/>
          </a:xfrm>
          <a:prstGeom xmlns:a="http://schemas.openxmlformats.org/drawingml/2006/main" prst="roundRect">
            <a:avLst>
              <a:gd name="adj" fmla="val 8000"/>
            </a:avLst>
          </a:prstGeom>
          <a:solidFill xmlns:a="http://schemas.openxmlformats.org/drawingml/2006/main">
            <a:srgbClr val="F5F9FA"/>
          </a:solidFill>
          <a:ln xmlns:a="http://schemas.openxmlformats.org/drawingml/2006/main" w="19050">
            <a:solidFill>
              <a:srgbClr val="007F86"/>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EMQX</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Broker MQTT</a:t>
            </a:r>
          </a:p>
        </p:txBody>
      </p:sp>
      <p:sp>
        <p:nvSpPr>
          <p:cNvPr id="7" name="Receptor&#10;Valida y escribe">
            <a:extLst xmlns:a="http://schemas.openxmlformats.org/drawingml/2006/main">
              <a:ext uri="{FF2B5EF4-FFF2-40B4-BE49-F238E27FC236}">
                <a16:creationId xmlns:a16="http://schemas.microsoft.com/office/drawing/2014/main" id="{661405E6-AABF-4E0D-82B3-E7D89CC80CC8}"/>
              </a:ext>
            </a:extLst>
          </p:cNvPr>
          <p:cNvSpPr>
            <a:spLocks xmlns:a="http://schemas.openxmlformats.org/drawingml/2006/main" noGrp="1"/>
          </p:cNvSpPr>
          <p:nvPr/>
        </p:nvSpPr>
        <p:spPr>
          <a:xfrm xmlns:a="http://schemas.openxmlformats.org/drawingml/2006/main">
            <a:off x="5657850" y="3133725"/>
            <a:ext cx="2238375" cy="1190625"/>
          </a:xfrm>
          <a:prstGeom xmlns:a="http://schemas.openxmlformats.org/drawingml/2006/main" prst="roundRect">
            <a:avLst>
              <a:gd name="adj" fmla="val 8000"/>
            </a:avLst>
          </a:prstGeom>
          <a:solidFill xmlns:a="http://schemas.openxmlformats.org/drawingml/2006/main">
            <a:srgbClr val="F5F9FA"/>
          </a:solidFill>
          <a:ln xmlns:a="http://schemas.openxmlformats.org/drawingml/2006/main" w="19050">
            <a:solidFill>
              <a:srgbClr val="007F86"/>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Receptor</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Valida y escribe</a:t>
            </a:r>
          </a:p>
        </p:txBody>
      </p:sp>
      <p:sp>
        <p:nvSpPr>
          <p:cNvPr id="8" name="InfluxDB&#10;Historial">
            <a:extLst xmlns:a="http://schemas.openxmlformats.org/drawingml/2006/main">
              <a:ext uri="{FF2B5EF4-FFF2-40B4-BE49-F238E27FC236}">
                <a16:creationId xmlns:a16="http://schemas.microsoft.com/office/drawing/2014/main" id="{ABC494FE-748C-436C-8307-1E9200FCE125}"/>
              </a:ext>
            </a:extLst>
          </p:cNvPr>
          <p:cNvSpPr>
            <a:spLocks xmlns:a="http://schemas.openxmlformats.org/drawingml/2006/main" noGrp="1"/>
          </p:cNvSpPr>
          <p:nvPr/>
        </p:nvSpPr>
        <p:spPr>
          <a:xfrm xmlns:a="http://schemas.openxmlformats.org/drawingml/2006/main">
            <a:off x="8639175" y="3133725"/>
            <a:ext cx="2286000" cy="1190625"/>
          </a:xfrm>
          <a:prstGeom xmlns:a="http://schemas.openxmlformats.org/drawingml/2006/main" prst="roundRect">
            <a:avLst>
              <a:gd name="adj" fmla="val 8000"/>
            </a:avLst>
          </a:prstGeom>
          <a:solidFill xmlns:a="http://schemas.openxmlformats.org/drawingml/2006/main">
            <a:srgbClr val="F5F9FA"/>
          </a:solidFill>
          <a:ln xmlns:a="http://schemas.openxmlformats.org/drawingml/2006/main" w="19050">
            <a:solidFill>
              <a:srgbClr val="147D57"/>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InfluxDB</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Historial</a:t>
            </a:r>
          </a:p>
        </p:txBody>
      </p:sp>
      <p:sp>
        <p:nvSpPr>
          <p:cNvPr id="9" name="Grafana&#10;Dashboard">
            <a:extLst xmlns:a="http://schemas.openxmlformats.org/drawingml/2006/main">
              <a:ext uri="{FF2B5EF4-FFF2-40B4-BE49-F238E27FC236}">
                <a16:creationId xmlns:a16="http://schemas.microsoft.com/office/drawing/2014/main" id="{FE2FDDD0-CB32-4BBB-A2C5-0179948B27C1}"/>
              </a:ext>
            </a:extLst>
          </p:cNvPr>
          <p:cNvSpPr>
            <a:spLocks xmlns:a="http://schemas.openxmlformats.org/drawingml/2006/main" noGrp="1"/>
          </p:cNvSpPr>
          <p:nvPr/>
        </p:nvSpPr>
        <p:spPr>
          <a:xfrm xmlns:a="http://schemas.openxmlformats.org/drawingml/2006/main">
            <a:off x="8639175" y="5057775"/>
            <a:ext cx="2286000" cy="1009650"/>
          </a:xfrm>
          <a:prstGeom xmlns:a="http://schemas.openxmlformats.org/drawingml/2006/main" prst="roundRect">
            <a:avLst>
              <a:gd name="adj" fmla="val 9434"/>
            </a:avLst>
          </a:prstGeom>
          <a:solidFill xmlns:a="http://schemas.openxmlformats.org/drawingml/2006/main">
            <a:srgbClr val="F5F9FA"/>
          </a:solidFill>
          <a:ln xmlns:a="http://schemas.openxmlformats.org/drawingml/2006/main" w="19050">
            <a:solidFill>
              <a:srgbClr val="287AC3"/>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Grafana</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Dashboard</a:t>
            </a:r>
          </a:p>
        </p:txBody>
      </p:sp>
      <p:sp>
        <p:nvSpPr>
          <p:cNvPr id="15" name="texto-14">
            <a:extLst xmlns:a="http://schemas.openxmlformats.org/drawingml/2006/main">
              <a:ext uri="{FF2B5EF4-FFF2-40B4-BE49-F238E27FC236}">
                <a16:creationId xmlns:a16="http://schemas.microsoft.com/office/drawing/2014/main" id="{489063E1-CFBC-45B3-831C-421EC66A3979}"/>
              </a:ext>
            </a:extLst>
          </p:cNvPr>
          <p:cNvSpPr>
            <a:spLocks xmlns:a="http://schemas.openxmlformats.org/drawingml/2006/main" noGrp="1"/>
          </p:cNvSpPr>
          <p:nvPr/>
        </p:nvSpPr>
        <p:spPr>
          <a:xfrm xmlns:a="http://schemas.openxmlformats.org/drawingml/2006/main">
            <a:off x="2609850" y="27146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007F86"/>
                </a:solidFill>
                <a:latin typeface="Arial"/>
                <a:ea typeface="Arial"/>
                <a:cs typeface="Arial"/>
              </a:defRPr>
            </a:defPPr>
          </a:lstStyle>
          <a:p xmlns:a="http://schemas.openxmlformats.org/drawingml/2006/main">
            <a:pPr algn="l">
              <a:defRPr sz="1725" b="0">
                <a:solidFill>
                  <a:srgbClr val="007F86"/>
                </a:solidFill>
                <a:latin typeface="Arial"/>
                <a:ea typeface="Arial"/>
                <a:cs typeface="Arial"/>
              </a:defRPr>
            </a:pPr>
            <a:r>
              <a:rPr sz="1725" b="0">
                <a:solidFill>
                  <a:srgbClr val="007F86"/>
                </a:solidFill>
                <a:latin typeface="Arial"/>
                <a:ea typeface="Arial"/>
                <a:cs typeface="Arial"/>
              </a:rPr>
              <a:t>MQTT</a:t>
            </a:r>
          </a:p>
        </p:txBody>
      </p:sp>
      <p:sp>
        <p:nvSpPr>
          <p:cNvPr id="16" name="texto-15">
            <a:extLst xmlns:a="http://schemas.openxmlformats.org/drawingml/2006/main">
              <a:ext uri="{FF2B5EF4-FFF2-40B4-BE49-F238E27FC236}">
                <a16:creationId xmlns:a16="http://schemas.microsoft.com/office/drawing/2014/main" id="{2C7A0CFC-C8AF-4132-81A3-E3DCB1481952}"/>
              </a:ext>
            </a:extLst>
          </p:cNvPr>
          <p:cNvSpPr>
            <a:spLocks xmlns:a="http://schemas.openxmlformats.org/drawingml/2006/main" noGrp="1"/>
          </p:cNvSpPr>
          <p:nvPr/>
        </p:nvSpPr>
        <p:spPr>
          <a:xfrm xmlns:a="http://schemas.openxmlformats.org/drawingml/2006/main">
            <a:off x="5067300" y="27432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007F86"/>
                </a:solidFill>
                <a:latin typeface="Arial"/>
                <a:ea typeface="Arial"/>
                <a:cs typeface="Arial"/>
              </a:defRPr>
            </a:defPPr>
          </a:lstStyle>
          <a:p xmlns:a="http://schemas.openxmlformats.org/drawingml/2006/main">
            <a:pPr algn="l">
              <a:defRPr sz="1725" b="0">
                <a:solidFill>
                  <a:srgbClr val="007F86"/>
                </a:solidFill>
                <a:latin typeface="Arial"/>
                <a:ea typeface="Arial"/>
                <a:cs typeface="Arial"/>
              </a:defRPr>
            </a:pPr>
            <a:r>
              <a:rPr sz="1725" b="0">
                <a:solidFill>
                  <a:srgbClr val="007F86"/>
                </a:solidFill>
                <a:latin typeface="Arial"/>
                <a:ea typeface="Arial"/>
                <a:cs typeface="Arial"/>
              </a:rPr>
              <a:t>MQTT</a:t>
            </a:r>
          </a:p>
        </p:txBody>
      </p:sp>
      <p:sp>
        <p:nvSpPr>
          <p:cNvPr id="17" name="texto-16">
            <a:extLst xmlns:a="http://schemas.openxmlformats.org/drawingml/2006/main">
              <a:ext uri="{FF2B5EF4-FFF2-40B4-BE49-F238E27FC236}">
                <a16:creationId xmlns:a16="http://schemas.microsoft.com/office/drawing/2014/main" id="{6AB9A35B-D7E2-400A-85BF-F8B63C57BE68}"/>
              </a:ext>
            </a:extLst>
          </p:cNvPr>
          <p:cNvSpPr>
            <a:spLocks xmlns:a="http://schemas.openxmlformats.org/drawingml/2006/main" noGrp="1"/>
          </p:cNvSpPr>
          <p:nvPr/>
        </p:nvSpPr>
        <p:spPr>
          <a:xfrm xmlns:a="http://schemas.openxmlformats.org/drawingml/2006/main">
            <a:off x="7934325" y="27432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007F86"/>
                </a:solidFill>
                <a:latin typeface="Arial"/>
                <a:ea typeface="Arial"/>
                <a:cs typeface="Arial"/>
              </a:defRPr>
            </a:defPPr>
          </a:lstStyle>
          <a:p xmlns:a="http://schemas.openxmlformats.org/drawingml/2006/main">
            <a:pPr algn="l">
              <a:defRPr sz="1725" b="0">
                <a:solidFill>
                  <a:srgbClr val="007F86"/>
                </a:solidFill>
                <a:latin typeface="Arial"/>
                <a:ea typeface="Arial"/>
                <a:cs typeface="Arial"/>
              </a:defRPr>
            </a:pPr>
            <a:r>
              <a:rPr sz="1725" b="0">
                <a:solidFill>
                  <a:srgbClr val="007F86"/>
                </a:solidFill>
                <a:latin typeface="Arial"/>
                <a:ea typeface="Arial"/>
                <a:cs typeface="Arial"/>
              </a:rPr>
              <a:t>HTTP</a:t>
            </a:r>
          </a:p>
        </p:txBody>
      </p:sp>
      <p:sp>
        <p:nvSpPr>
          <p:cNvPr id="18" name="texto-17">
            <a:extLst xmlns:a="http://schemas.openxmlformats.org/drawingml/2006/main">
              <a:ext uri="{FF2B5EF4-FFF2-40B4-BE49-F238E27FC236}">
                <a16:creationId xmlns:a16="http://schemas.microsoft.com/office/drawing/2014/main" id="{883F1901-E584-4DCF-A682-22EF961C54AE}"/>
              </a:ext>
            </a:extLst>
          </p:cNvPr>
          <p:cNvSpPr>
            <a:spLocks xmlns:a="http://schemas.openxmlformats.org/drawingml/2006/main" noGrp="1"/>
          </p:cNvSpPr>
          <p:nvPr/>
        </p:nvSpPr>
        <p:spPr>
          <a:xfrm xmlns:a="http://schemas.openxmlformats.org/drawingml/2006/main">
            <a:off x="7162800" y="4562475"/>
            <a:ext cx="171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50" b="0">
                <a:solidFill>
                  <a:srgbClr val="526878"/>
                </a:solidFill>
                <a:latin typeface="Arial"/>
                <a:ea typeface="Arial"/>
                <a:cs typeface="Arial"/>
              </a:defRPr>
            </a:defPPr>
          </a:lstStyle>
          <a:p xmlns:a="http://schemas.openxmlformats.org/drawingml/2006/main">
            <a:pPr algn="l">
              <a:defRPr sz="1650" b="0">
                <a:solidFill>
                  <a:srgbClr val="526878"/>
                </a:solidFill>
                <a:latin typeface="Arial"/>
                <a:ea typeface="Arial"/>
                <a:cs typeface="Arial"/>
              </a:defRPr>
            </a:pPr>
            <a:r>
              <a:rPr sz="1650" b="0">
                <a:solidFill>
                  <a:srgbClr val="526878"/>
                </a:solidFill>
                <a:latin typeface="Arial"/>
                <a:ea typeface="Arial"/>
                <a:cs typeface="Arial"/>
              </a:rPr>
              <a:t>Consulta</a:t>
            </a:r>
          </a:p>
          <a:p xmlns:a="http://schemas.openxmlformats.org/drawingml/2006/main">
            <a:pPr algn="l">
              <a:defRPr sz="1650" b="0">
                <a:solidFill>
                  <a:srgbClr val="526878"/>
                </a:solidFill>
                <a:latin typeface="Arial"/>
                <a:ea typeface="Arial"/>
                <a:cs typeface="Arial"/>
              </a:defRPr>
            </a:pPr>
            <a:r>
              <a:rPr sz="1650" b="0">
                <a:solidFill>
                  <a:srgbClr val="526878"/>
                </a:solidFill>
                <a:latin typeface="Arial"/>
                <a:ea typeface="Arial"/>
                <a:cs typeface="Arial"/>
              </a:rPr>
              <a:t>y respuesta</a:t>
            </a:r>
          </a:p>
        </p:txBody>
      </p:sp>
      <p:sp>
        <p:nvSpPr>
          <p:cNvPr id="19" name="texto-18">
            <a:extLst xmlns:a="http://schemas.openxmlformats.org/drawingml/2006/main">
              <a:ext uri="{FF2B5EF4-FFF2-40B4-BE49-F238E27FC236}">
                <a16:creationId xmlns:a16="http://schemas.microsoft.com/office/drawing/2014/main" id="{3D33F7BD-7B98-41C5-8E1B-255C2F6D7F78}"/>
              </a:ext>
            </a:extLst>
          </p:cNvPr>
          <p:cNvSpPr>
            <a:spLocks xmlns:a="http://schemas.openxmlformats.org/drawingml/2006/main" noGrp="1"/>
          </p:cNvSpPr>
          <p:nvPr/>
        </p:nvSpPr>
        <p:spPr>
          <a:xfrm xmlns:a="http://schemas.openxmlformats.org/drawingml/2006/main">
            <a:off x="609600" y="5543550"/>
            <a:ext cx="7381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007F86"/>
                </a:solidFill>
                <a:latin typeface="Arial"/>
                <a:ea typeface="Arial"/>
                <a:cs typeface="Arial"/>
              </a:defRPr>
            </a:defPPr>
          </a:lstStyle>
          <a:p xmlns:a="http://schemas.openxmlformats.org/drawingml/2006/main">
            <a:pPr algn="l">
              <a:defRPr sz="2250" b="1">
                <a:solidFill>
                  <a:srgbClr val="007F86"/>
                </a:solidFill>
                <a:latin typeface="Arial"/>
                <a:ea typeface="Arial"/>
                <a:cs typeface="Arial"/>
              </a:defRPr>
            </a:pPr>
            <a:r>
              <a:rPr sz="2250" b="1">
                <a:solidFill>
                  <a:srgbClr val="007F86"/>
                </a:solidFill>
                <a:latin typeface="Arial"/>
                <a:ea typeface="Arial"/>
                <a:cs typeface="Arial"/>
              </a:rPr>
              <a:t>Cada nodo publica una lectura cada 10 segundos</a:t>
            </a:r>
          </a:p>
        </p:txBody>
      </p:sp>
    </p:spTree>
    <p:extLst>
      <p:ext uri="{BB962C8B-B14F-4D97-AF65-F5344CB8AC3E}">
        <p14:creationId xmlns:p14="http://schemas.microsoft.com/office/powerpoint/2010/main" val="16828810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o-0">
            <a:extLst xmlns:a="http://schemas.openxmlformats.org/drawingml/2006/main">
              <a:ext uri="{FF2B5EF4-FFF2-40B4-BE49-F238E27FC236}">
                <a16:creationId xmlns:a16="http://schemas.microsoft.com/office/drawing/2014/main" id="{CD863B2D-DD35-4DCF-BBD2-559D6857CB49}"/>
              </a:ext>
            </a:extLst>
          </p:cNvPr>
          <p:cNvSpPr>
            <a:spLocks xmlns:a="http://schemas.openxmlformats.org/drawingml/2006/main" noGrp="1"/>
          </p:cNvSpPr>
          <p:nvPr/>
        </p:nvSpPr>
        <p:spPr>
          <a:xfrm xmlns:a="http://schemas.openxmlformats.org/drawingml/2006/main">
            <a:off x="609600" y="45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132A3A"/>
                </a:solidFill>
                <a:latin typeface="Arial"/>
                <a:ea typeface="Arial"/>
                <a:cs typeface="Arial"/>
              </a:defRPr>
            </a:defPPr>
          </a:lstStyle>
          <a:p xmlns:a="http://schemas.openxmlformats.org/drawingml/2006/main">
            <a:pPr algn="l">
              <a:defRPr sz="3300" b="1">
                <a:solidFill>
                  <a:srgbClr val="132A3A"/>
                </a:solidFill>
                <a:latin typeface="Arial"/>
                <a:ea typeface="Arial"/>
                <a:cs typeface="Arial"/>
              </a:defRPr>
            </a:pPr>
            <a:r>
              <a:rPr sz="3300" b="1">
                <a:solidFill>
                  <a:srgbClr val="132A3A"/>
                </a:solidFill>
                <a:latin typeface="Arial"/>
                <a:ea typeface="Arial"/>
                <a:cs typeface="Arial"/>
              </a:rPr>
              <a:t>Herramientas de implementación</a:t>
            </a:r>
          </a:p>
        </p:txBody>
      </p:sp>
      <p:sp>
        <p:nvSpPr>
          <p:cNvPr id="2" name="texto-1">
            <a:extLst xmlns:a="http://schemas.openxmlformats.org/drawingml/2006/main">
              <a:ext uri="{FF2B5EF4-FFF2-40B4-BE49-F238E27FC236}">
                <a16:creationId xmlns:a16="http://schemas.microsoft.com/office/drawing/2014/main" id="{121144EC-2A92-445B-8833-3312342C4390}"/>
              </a:ext>
            </a:extLst>
          </p:cNvPr>
          <p:cNvSpPr>
            <a:spLocks xmlns:a="http://schemas.openxmlformats.org/drawingml/2006/main" noGrp="1"/>
          </p:cNvSpPr>
          <p:nvPr/>
        </p:nvSpPr>
        <p:spPr>
          <a:xfrm xmlns:a="http://schemas.openxmlformats.org/drawingml/2006/main">
            <a:off x="609600" y="6438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878"/>
                </a:solidFill>
                <a:latin typeface="Arial"/>
                <a:ea typeface="Arial"/>
                <a:cs typeface="Arial"/>
              </a:defRPr>
            </a:defPPr>
          </a:lstStyle>
          <a:p xmlns:a="http://schemas.openxmlformats.org/drawingml/2006/main">
            <a:pPr algn="l">
              <a:defRPr sz="1350" b="0">
                <a:solidFill>
                  <a:srgbClr val="526878"/>
                </a:solidFill>
                <a:latin typeface="Arial"/>
                <a:ea typeface="Arial"/>
                <a:cs typeface="Arial"/>
              </a:defRPr>
            </a:pPr>
            <a:r>
              <a:rPr sz="1350" b="0">
                <a:solidFill>
                  <a:srgbClr val="526878"/>
                </a:solidFill>
                <a:latin typeface="Arial"/>
                <a:ea typeface="Arial"/>
                <a:cs typeface="Arial"/>
              </a:rPr>
              <a:t>TA3  04</a:t>
            </a:r>
          </a:p>
        </p:txBody>
      </p:sp>
      <p:graphicFrame>
        <p:nvGraphicFramePr>
          <p:cNvPr id="3" name="">
            <a:extLst xmlns:a="http://schemas.openxmlformats.org/drawingml/2006/main">
              <a:ext uri="{FF2B5EF4-FFF2-40B4-BE49-F238E27FC236}">
                <a16:creationId xmlns:a16="http://schemas.microsoft.com/office/drawing/2014/main" id="{96DF2C36-2021-4E27-9424-E973D8BE6FE5}"/>
              </a:ext>
            </a:extLst>
          </p:cNvPr>
          <p:cNvGraphicFramePr/>
          <p:nvPr/>
        </p:nvGraphicFramePr>
        <p:xfrm>
          <a:off xmlns:a="http://schemas.openxmlformats.org/drawingml/2006/main" x="609600" y="1676400"/>
          <a:ext xmlns:a="http://schemas.openxmlformats.org/drawingml/2006/main" cx="10972800" cy="3333750"/>
        </p:xfrm>
        <a:graphic xmlns:a="http://schemas.openxmlformats.org/drawingml/2006/main">
          <a:graphicData uri="http://schemas.openxmlformats.org/drawingml/2006/table">
            <a:tbl>
              <a:tblPr/>
              <a:tblGrid>
                <a:gridCol w="2857500"/>
                <a:gridCol w="3667125"/>
                <a:gridCol w="4448175"/>
              </a:tblGrid>
              <a:tr h="666750">
                <a:tc>
                  <a:txBody>
                    <a:bodyPr/>
                    <a:lstStyle/>
                    <a:p>
                      <a:r>
                        <a:rPr sz="1800" b="1">
                          <a:solidFill>
                            <a:srgbClr val="FFFFFF"/>
                          </a:solidFill>
                          <a:latin typeface="Arial"/>
                          <a:ea typeface="Arial"/>
                          <a:cs typeface="Arial"/>
                        </a:rPr>
                        <a:t>Herramienta</a:t>
                      </a:r>
                    </a:p>
                  </a:txBody>
                  <a:tcPr marL="91440" marR="91440" marT="45720" marB="45720">
                    <a:lnL w="9525">
                      <a:solidFill>
                        <a:srgbClr val="CFDCE3"/>
                      </a:solidFill>
                      <a:prstDash val="solid"/>
                    </a:lnL>
                    <a:lnR w="9525">
                      <a:solidFill>
                        <a:srgbClr val="CFDCE3"/>
                      </a:solidFill>
                      <a:prstDash val="solid"/>
                    </a:lnR>
                    <a:lnT w="9525">
                      <a:solidFill>
                        <a:srgbClr val="CFDCE3"/>
                      </a:solidFill>
                      <a:prstDash val="solid"/>
                    </a:lnT>
                    <a:lnB w="9525">
                      <a:solidFill>
                        <a:srgbClr val="CFDCE3"/>
                      </a:solidFill>
                      <a:prstDash val="solid"/>
                    </a:lnB>
                    <a:solidFill>
                      <a:srgbClr val="132A3A"/>
                    </a:solidFill>
                  </a:tcPr>
                </a:tc>
                <a:tc>
                  <a:txBody>
                    <a:bodyPr/>
                    <a:lstStyle/>
                    <a:p>
                      <a:r>
                        <a:rPr sz="1800" b="1">
                          <a:solidFill>
                            <a:srgbClr val="FFFFFF"/>
                          </a:solidFill>
                          <a:latin typeface="Arial"/>
                          <a:ea typeface="Arial"/>
                          <a:cs typeface="Arial"/>
                        </a:rPr>
                        <a:t>Qué es</a:t>
                      </a:r>
                    </a:p>
                  </a:txBody>
                  <a:tcPr marL="91440" marR="91440" marT="45720" marB="45720">
                    <a:lnR w="9525">
                      <a:solidFill>
                        <a:srgbClr val="CFDCE3"/>
                      </a:solidFill>
                      <a:prstDash val="solid"/>
                    </a:lnR>
                    <a:lnT w="9525">
                      <a:solidFill>
                        <a:srgbClr val="CFDCE3"/>
                      </a:solidFill>
                      <a:prstDash val="solid"/>
                    </a:lnT>
                    <a:lnB w="9525">
                      <a:solidFill>
                        <a:srgbClr val="CFDCE3"/>
                      </a:solidFill>
                      <a:prstDash val="solid"/>
                    </a:lnB>
                    <a:solidFill>
                      <a:srgbClr val="132A3A"/>
                    </a:solidFill>
                  </a:tcPr>
                </a:tc>
                <a:tc>
                  <a:txBody>
                    <a:bodyPr/>
                    <a:lstStyle/>
                    <a:p>
                      <a:r>
                        <a:rPr sz="1800" b="1">
                          <a:solidFill>
                            <a:srgbClr val="FFFFFF"/>
                          </a:solidFill>
                          <a:latin typeface="Arial"/>
                          <a:ea typeface="Arial"/>
                          <a:cs typeface="Arial"/>
                        </a:rPr>
                        <a:t>Uso en el proyecto</a:t>
                      </a:r>
                    </a:p>
                  </a:txBody>
                  <a:tcPr marL="91440" marR="91440" marT="45720" marB="45720">
                    <a:lnR w="9525">
                      <a:solidFill>
                        <a:srgbClr val="CFDCE3"/>
                      </a:solidFill>
                      <a:prstDash val="solid"/>
                    </a:lnR>
                    <a:lnT w="9525">
                      <a:solidFill>
                        <a:srgbClr val="CFDCE3"/>
                      </a:solidFill>
                      <a:prstDash val="solid"/>
                    </a:lnT>
                    <a:lnB w="9525">
                      <a:solidFill>
                        <a:srgbClr val="CFDCE3"/>
                      </a:solidFill>
                      <a:prstDash val="solid"/>
                    </a:lnB>
                    <a:solidFill>
                      <a:srgbClr val="132A3A"/>
                    </a:solidFill>
                  </a:tcPr>
                </a:tc>
              </a:tr>
              <a:tr h="666750">
                <a:tc>
                  <a:txBody>
                    <a:bodyPr/>
                    <a:lstStyle/>
                    <a:p>
                      <a:r>
                        <a:rPr sz="1800" b="0">
                          <a:solidFill>
                            <a:srgbClr val="132A3A"/>
                          </a:solidFill>
                          <a:latin typeface="Arial"/>
                          <a:ea typeface="Arial"/>
                          <a:cs typeface="Arial"/>
                        </a:rPr>
                        <a:t>VS Code</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FFFFF"/>
                    </a:solidFill>
                  </a:tcPr>
                </a:tc>
                <a:tc>
                  <a:txBody>
                    <a:bodyPr/>
                    <a:lstStyle/>
                    <a:p>
                      <a:r>
                        <a:rPr sz="1800" b="0">
                          <a:solidFill>
                            <a:srgbClr val="132A3A"/>
                          </a:solidFill>
                          <a:latin typeface="Arial"/>
                          <a:ea typeface="Arial"/>
                          <a:cs typeface="Arial"/>
                        </a:rPr>
                        <a:t>Editor de código</a:t>
                      </a:r>
                    </a:p>
                  </a:txBody>
                  <a:tcPr marL="91440" marR="91440" marT="45720" marB="45720">
                    <a:lnR w="9525">
                      <a:solidFill>
                        <a:srgbClr val="CFDCE3"/>
                      </a:solidFill>
                      <a:prstDash val="solid"/>
                    </a:lnR>
                    <a:lnB w="9525">
                      <a:solidFill>
                        <a:srgbClr val="CFDCE3"/>
                      </a:solidFill>
                      <a:prstDash val="solid"/>
                    </a:lnB>
                    <a:solidFill>
                      <a:srgbClr val="FFFFFF"/>
                    </a:solidFill>
                  </a:tcPr>
                </a:tc>
                <a:tc>
                  <a:txBody>
                    <a:bodyPr/>
                    <a:lstStyle/>
                    <a:p>
                      <a:r>
                        <a:rPr sz="1800" b="0">
                          <a:solidFill>
                            <a:srgbClr val="132A3A"/>
                          </a:solidFill>
                          <a:latin typeface="Arial"/>
                          <a:ea typeface="Arial"/>
                          <a:cs typeface="Arial"/>
                        </a:rPr>
                        <a:t>Archivos y terminal</a:t>
                      </a:r>
                    </a:p>
                  </a:txBody>
                  <a:tcPr marL="91440" marR="91440" marT="45720" marB="45720">
                    <a:lnR w="9525">
                      <a:solidFill>
                        <a:srgbClr val="CFDCE3"/>
                      </a:solidFill>
                      <a:prstDash val="solid"/>
                    </a:lnR>
                    <a:lnB w="9525">
                      <a:solidFill>
                        <a:srgbClr val="CFDCE3"/>
                      </a:solidFill>
                      <a:prstDash val="solid"/>
                    </a:lnB>
                    <a:solidFill>
                      <a:srgbClr val="FFFFFF"/>
                    </a:solidFill>
                  </a:tcPr>
                </a:tc>
              </a:tr>
              <a:tr h="666750">
                <a:tc>
                  <a:txBody>
                    <a:bodyPr/>
                    <a:lstStyle/>
                    <a:p>
                      <a:r>
                        <a:rPr sz="1800" b="0">
                          <a:solidFill>
                            <a:srgbClr val="132A3A"/>
                          </a:solidFill>
                          <a:latin typeface="Arial"/>
                          <a:ea typeface="Arial"/>
                          <a:cs typeface="Arial"/>
                        </a:rPr>
                        <a:t>Python y Paho</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2F6F8"/>
                    </a:solidFill>
                  </a:tcPr>
                </a:tc>
                <a:tc>
                  <a:txBody>
                    <a:bodyPr/>
                    <a:lstStyle/>
                    <a:p>
                      <a:r>
                        <a:rPr sz="1800" b="0">
                          <a:solidFill>
                            <a:srgbClr val="132A3A"/>
                          </a:solidFill>
                          <a:latin typeface="Arial"/>
                          <a:ea typeface="Arial"/>
                          <a:cs typeface="Arial"/>
                        </a:rPr>
                        <a:t>Lenguaje y biblioteca MQTT</a:t>
                      </a:r>
                    </a:p>
                  </a:txBody>
                  <a:tcPr marL="91440" marR="91440" marT="45720" marB="45720">
                    <a:lnR w="9525">
                      <a:solidFill>
                        <a:srgbClr val="CFDCE3"/>
                      </a:solidFill>
                      <a:prstDash val="solid"/>
                    </a:lnR>
                    <a:lnB w="9525">
                      <a:solidFill>
                        <a:srgbClr val="CFDCE3"/>
                      </a:solidFill>
                      <a:prstDash val="solid"/>
                    </a:lnB>
                    <a:solidFill>
                      <a:srgbClr val="F2F6F8"/>
                    </a:solidFill>
                  </a:tcPr>
                </a:tc>
                <a:tc>
                  <a:txBody>
                    <a:bodyPr/>
                    <a:lstStyle/>
                    <a:p>
                      <a:r>
                        <a:rPr sz="1800" b="0">
                          <a:solidFill>
                            <a:srgbClr val="132A3A"/>
                          </a:solidFill>
                          <a:latin typeface="Arial"/>
                          <a:ea typeface="Arial"/>
                          <a:cs typeface="Arial"/>
                        </a:rPr>
                        <a:t>Nodos y receptor</a:t>
                      </a:r>
                    </a:p>
                  </a:txBody>
                  <a:tcPr marL="91440" marR="91440" marT="45720" marB="45720">
                    <a:lnR w="9525">
                      <a:solidFill>
                        <a:srgbClr val="CFDCE3"/>
                      </a:solidFill>
                      <a:prstDash val="solid"/>
                    </a:lnR>
                    <a:lnB w="9525">
                      <a:solidFill>
                        <a:srgbClr val="CFDCE3"/>
                      </a:solidFill>
                      <a:prstDash val="solid"/>
                    </a:lnB>
                    <a:solidFill>
                      <a:srgbClr val="F2F6F8"/>
                    </a:solidFill>
                  </a:tcPr>
                </a:tc>
              </a:tr>
              <a:tr h="666750">
                <a:tc>
                  <a:txBody>
                    <a:bodyPr/>
                    <a:lstStyle/>
                    <a:p>
                      <a:r>
                        <a:rPr sz="1800" b="0">
                          <a:solidFill>
                            <a:srgbClr val="132A3A"/>
                          </a:solidFill>
                          <a:latin typeface="Arial"/>
                          <a:ea typeface="Arial"/>
                          <a:cs typeface="Arial"/>
                        </a:rPr>
                        <a:t>Docker y Compose</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FFFFF"/>
                    </a:solidFill>
                  </a:tcPr>
                </a:tc>
                <a:tc>
                  <a:txBody>
                    <a:bodyPr/>
                    <a:lstStyle/>
                    <a:p>
                      <a:r>
                        <a:rPr sz="1800" b="0">
                          <a:solidFill>
                            <a:srgbClr val="132A3A"/>
                          </a:solidFill>
                          <a:latin typeface="Arial"/>
                          <a:ea typeface="Arial"/>
                          <a:cs typeface="Arial"/>
                        </a:rPr>
                        <a:t>Contenedores y configuración</a:t>
                      </a:r>
                    </a:p>
                  </a:txBody>
                  <a:tcPr marL="91440" marR="91440" marT="45720" marB="45720">
                    <a:lnR w="9525">
                      <a:solidFill>
                        <a:srgbClr val="CFDCE3"/>
                      </a:solidFill>
                      <a:prstDash val="solid"/>
                    </a:lnR>
                    <a:lnB w="9525">
                      <a:solidFill>
                        <a:srgbClr val="CFDCE3"/>
                      </a:solidFill>
                      <a:prstDash val="solid"/>
                    </a:lnB>
                    <a:solidFill>
                      <a:srgbClr val="FFFFFF"/>
                    </a:solidFill>
                  </a:tcPr>
                </a:tc>
                <a:tc>
                  <a:txBody>
                    <a:bodyPr/>
                    <a:lstStyle/>
                    <a:p>
                      <a:r>
                        <a:rPr sz="1800" b="0">
                          <a:solidFill>
                            <a:srgbClr val="132A3A"/>
                          </a:solidFill>
                          <a:latin typeface="Arial"/>
                          <a:ea typeface="Arial"/>
                          <a:cs typeface="Arial"/>
                        </a:rPr>
                        <a:t>Inicio de seis servicios</a:t>
                      </a:r>
                    </a:p>
                  </a:txBody>
                  <a:tcPr marL="91440" marR="91440" marT="45720" marB="45720">
                    <a:lnR w="9525">
                      <a:solidFill>
                        <a:srgbClr val="CFDCE3"/>
                      </a:solidFill>
                      <a:prstDash val="solid"/>
                    </a:lnR>
                    <a:lnB w="9525">
                      <a:solidFill>
                        <a:srgbClr val="CFDCE3"/>
                      </a:solidFill>
                      <a:prstDash val="solid"/>
                    </a:lnB>
                    <a:solidFill>
                      <a:srgbClr val="FFFFFF"/>
                    </a:solidFill>
                  </a:tcPr>
                </a:tc>
              </a:tr>
              <a:tr h="666750">
                <a:tc>
                  <a:txBody>
                    <a:bodyPr/>
                    <a:lstStyle/>
                    <a:p>
                      <a:r>
                        <a:rPr sz="1800" b="0">
                          <a:solidFill>
                            <a:srgbClr val="132A3A"/>
                          </a:solidFill>
                          <a:latin typeface="Arial"/>
                          <a:ea typeface="Arial"/>
                          <a:cs typeface="Arial"/>
                        </a:rPr>
                        <a:t>WSL</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2F6F8"/>
                    </a:solidFill>
                  </a:tcPr>
                </a:tc>
                <a:tc>
                  <a:txBody>
                    <a:bodyPr/>
                    <a:lstStyle/>
                    <a:p>
                      <a:r>
                        <a:rPr sz="1800" b="0">
                          <a:solidFill>
                            <a:srgbClr val="132A3A"/>
                          </a:solidFill>
                          <a:latin typeface="Arial"/>
                          <a:ea typeface="Arial"/>
                          <a:cs typeface="Arial"/>
                        </a:rPr>
                        <a:t>Entorno Linux en Windows</a:t>
                      </a:r>
                    </a:p>
                  </a:txBody>
                  <a:tcPr marL="91440" marR="91440" marT="45720" marB="45720">
                    <a:lnR w="9525">
                      <a:solidFill>
                        <a:srgbClr val="CFDCE3"/>
                      </a:solidFill>
                      <a:prstDash val="solid"/>
                    </a:lnR>
                    <a:lnB w="9525">
                      <a:solidFill>
                        <a:srgbClr val="CFDCE3"/>
                      </a:solidFill>
                      <a:prstDash val="solid"/>
                    </a:lnB>
                    <a:solidFill>
                      <a:srgbClr val="F2F6F8"/>
                    </a:solidFill>
                  </a:tcPr>
                </a:tc>
                <a:tc>
                  <a:txBody>
                    <a:bodyPr/>
                    <a:lstStyle/>
                    <a:p>
                      <a:r>
                        <a:rPr sz="1800" b="0">
                          <a:solidFill>
                            <a:srgbClr val="132A3A"/>
                          </a:solidFill>
                          <a:latin typeface="Arial"/>
                          <a:ea typeface="Arial"/>
                          <a:cs typeface="Arial"/>
                        </a:rPr>
                        <a:t>Soporte de Docker Desktop</a:t>
                      </a:r>
                    </a:p>
                  </a:txBody>
                  <a:tcPr marL="91440" marR="91440" marT="45720" marB="45720">
                    <a:lnR w="9525">
                      <a:solidFill>
                        <a:srgbClr val="CFDCE3"/>
                      </a:solidFill>
                      <a:prstDash val="solid"/>
                    </a:lnR>
                    <a:lnB w="9525">
                      <a:solidFill>
                        <a:srgbClr val="CFDCE3"/>
                      </a:solidFill>
                      <a:prstDash val="solid"/>
                    </a:lnB>
                    <a:solidFill>
                      <a:srgbClr val="F2F6F8"/>
                    </a:solidFill>
                  </a:tcPr>
                </a:tc>
              </a:tr>
            </a:tbl>
          </a:graphicData>
        </a:graphic>
      </p:graphicFrame>
      <p:sp>
        <p:nvSpPr>
          <p:cNvPr id="4" name="texto-2">
            <a:extLst xmlns:a="http://schemas.openxmlformats.org/drawingml/2006/main">
              <a:ext uri="{FF2B5EF4-FFF2-40B4-BE49-F238E27FC236}">
                <a16:creationId xmlns:a16="http://schemas.microsoft.com/office/drawing/2014/main" id="{A3687B21-DC9C-43A0-B1A8-EB49029CEE3C}"/>
              </a:ext>
            </a:extLst>
          </p:cNvPr>
          <p:cNvSpPr>
            <a:spLocks xmlns:a="http://schemas.openxmlformats.org/drawingml/2006/main" noGrp="1"/>
          </p:cNvSpPr>
          <p:nvPr/>
        </p:nvSpPr>
        <p:spPr>
          <a:xfrm xmlns:a="http://schemas.openxmlformats.org/drawingml/2006/main">
            <a:off x="609600" y="539115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400" b="1">
                <a:solidFill>
                  <a:srgbClr val="007F86"/>
                </a:solidFill>
                <a:latin typeface="Arial"/>
                <a:ea typeface="Arial"/>
                <a:cs typeface="Arial"/>
              </a:defRPr>
            </a:defPPr>
          </a:lstStyle>
          <a:p xmlns:a="http://schemas.openxmlformats.org/drawingml/2006/main">
            <a:pPr algn="l">
              <a:defRPr sz="2400" b="1">
                <a:solidFill>
                  <a:srgbClr val="007F86"/>
                </a:solidFill>
                <a:latin typeface="Arial"/>
                <a:ea typeface="Arial"/>
                <a:cs typeface="Arial"/>
              </a:defRPr>
            </a:pPr>
            <a:r>
              <a:rPr sz="2400" b="1">
                <a:solidFill>
                  <a:srgbClr val="007F86"/>
                </a:solidFill>
                <a:latin typeface="Arial"/>
                <a:ea typeface="Arial"/>
                <a:cs typeface="Arial"/>
              </a:rPr>
              <a:t>Un contenedor ejecuta un servicio con sus dependencias</a:t>
            </a:r>
          </a:p>
        </p:txBody>
      </p:sp>
    </p:spTree>
    <p:extLst>
      <p:ext uri="{BB962C8B-B14F-4D97-AF65-F5344CB8AC3E}">
        <p14:creationId xmlns:p14="http://schemas.microsoft.com/office/powerpoint/2010/main" val="19569541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o-0">
            <a:extLst xmlns:a="http://schemas.openxmlformats.org/drawingml/2006/main">
              <a:ext uri="{FF2B5EF4-FFF2-40B4-BE49-F238E27FC236}">
                <a16:creationId xmlns:a16="http://schemas.microsoft.com/office/drawing/2014/main" id="{D046688F-D42B-4748-83C3-D9B2F9E0AA19}"/>
              </a:ext>
            </a:extLst>
          </p:cNvPr>
          <p:cNvSpPr>
            <a:spLocks xmlns:a="http://schemas.openxmlformats.org/drawingml/2006/main" noGrp="1"/>
          </p:cNvSpPr>
          <p:nvPr/>
        </p:nvSpPr>
        <p:spPr>
          <a:xfrm xmlns:a="http://schemas.openxmlformats.org/drawingml/2006/main">
            <a:off x="609600" y="45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132A3A"/>
                </a:solidFill>
                <a:latin typeface="Arial"/>
                <a:ea typeface="Arial"/>
                <a:cs typeface="Arial"/>
              </a:defRPr>
            </a:defPPr>
          </a:lstStyle>
          <a:p xmlns:a="http://schemas.openxmlformats.org/drawingml/2006/main">
            <a:pPr algn="l">
              <a:defRPr sz="3300" b="1">
                <a:solidFill>
                  <a:srgbClr val="132A3A"/>
                </a:solidFill>
                <a:latin typeface="Arial"/>
                <a:ea typeface="Arial"/>
                <a:cs typeface="Arial"/>
              </a:defRPr>
            </a:pPr>
            <a:r>
              <a:rPr sz="3300" b="1">
                <a:solidFill>
                  <a:srgbClr val="132A3A"/>
                </a:solidFill>
                <a:latin typeface="Arial"/>
                <a:ea typeface="Arial"/>
                <a:cs typeface="Arial"/>
              </a:rPr>
              <a:t>Nodos y perfiles de temperatura</a:t>
            </a:r>
          </a:p>
        </p:txBody>
      </p:sp>
      <p:sp>
        <p:nvSpPr>
          <p:cNvPr id="2" name="texto-1">
            <a:extLst xmlns:a="http://schemas.openxmlformats.org/drawingml/2006/main">
              <a:ext uri="{FF2B5EF4-FFF2-40B4-BE49-F238E27FC236}">
                <a16:creationId xmlns:a16="http://schemas.microsoft.com/office/drawing/2014/main" id="{DD10226B-640B-4BA2-BAB3-CEECAFEF295E}"/>
              </a:ext>
            </a:extLst>
          </p:cNvPr>
          <p:cNvSpPr>
            <a:spLocks xmlns:a="http://schemas.openxmlformats.org/drawingml/2006/main" noGrp="1"/>
          </p:cNvSpPr>
          <p:nvPr/>
        </p:nvSpPr>
        <p:spPr>
          <a:xfrm xmlns:a="http://schemas.openxmlformats.org/drawingml/2006/main">
            <a:off x="609600" y="6438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878"/>
                </a:solidFill>
                <a:latin typeface="Arial"/>
                <a:ea typeface="Arial"/>
                <a:cs typeface="Arial"/>
              </a:defRPr>
            </a:defPPr>
          </a:lstStyle>
          <a:p xmlns:a="http://schemas.openxmlformats.org/drawingml/2006/main">
            <a:pPr algn="l">
              <a:defRPr sz="1350" b="0">
                <a:solidFill>
                  <a:srgbClr val="526878"/>
                </a:solidFill>
                <a:latin typeface="Arial"/>
                <a:ea typeface="Arial"/>
                <a:cs typeface="Arial"/>
              </a:defRPr>
            </a:pPr>
            <a:r>
              <a:rPr sz="1350" b="0">
                <a:solidFill>
                  <a:srgbClr val="526878"/>
                </a:solidFill>
                <a:latin typeface="Arial"/>
                <a:ea typeface="Arial"/>
                <a:cs typeface="Arial"/>
              </a:rPr>
              <a:t>TA3  05</a:t>
            </a:r>
          </a:p>
        </p:txBody>
      </p:sp>
      <p:sp>
        <p:nvSpPr>
          <p:cNvPr id="3" name="texto-2">
            <a:extLst xmlns:a="http://schemas.openxmlformats.org/drawingml/2006/main">
              <a:ext uri="{FF2B5EF4-FFF2-40B4-BE49-F238E27FC236}">
                <a16:creationId xmlns:a16="http://schemas.microsoft.com/office/drawing/2014/main" id="{E5594542-2C0E-4DB0-9AFD-999DD3E5D80B}"/>
              </a:ext>
            </a:extLst>
          </p:cNvPr>
          <p:cNvSpPr>
            <a:spLocks xmlns:a="http://schemas.openxmlformats.org/drawingml/2006/main" noGrp="1"/>
          </p:cNvSpPr>
          <p:nvPr/>
        </p:nvSpPr>
        <p:spPr>
          <a:xfrm xmlns:a="http://schemas.openxmlformats.org/drawingml/2006/main">
            <a:off x="609600" y="12573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007F86"/>
                </a:solidFill>
                <a:latin typeface="Arial"/>
                <a:ea typeface="Arial"/>
                <a:cs typeface="Arial"/>
              </a:defRPr>
            </a:defPPr>
          </a:lstStyle>
          <a:p xmlns:a="http://schemas.openxmlformats.org/drawingml/2006/main">
            <a:pPr algn="l">
              <a:defRPr sz="2250" b="1">
                <a:solidFill>
                  <a:srgbClr val="007F86"/>
                </a:solidFill>
                <a:latin typeface="Arial"/>
                <a:ea typeface="Arial"/>
                <a:cs typeface="Arial"/>
              </a:defRPr>
            </a:pPr>
            <a:r>
              <a:rPr sz="2250" b="1">
                <a:solidFill>
                  <a:srgbClr val="007F86"/>
                </a:solidFill>
                <a:latin typeface="Arial"/>
                <a:ea typeface="Arial"/>
                <a:cs typeface="Arial"/>
              </a:rPr>
              <a:t>Lecturas cada 10 segundos con cambios graduales</a:t>
            </a:r>
          </a:p>
        </p:txBody>
      </p:sp>
      <p:graphicFrame>
        <p:nvGraphicFramePr>
          <p:cNvPr id="4" name="Chart">
            <a:extLst xmlns:a="http://schemas.openxmlformats.org/drawingml/2006/main">
              <a:ext uri="{FF2B5EF4-FFF2-40B4-BE49-F238E27FC236}">
                <a16:creationId xmlns:a16="http://schemas.microsoft.com/office/drawing/2014/main" id="{B31C137D-BCCC-40B8-A7BE-4EC4309DEB37}"/>
              </a:ext>
            </a:extLst>
          </p:cNvPr>
          <p:cNvGraphicFramePr/>
          <p:nvPr/>
        </p:nvGraphicFramePr>
        <p:xfrm>
          <a:off xmlns:a="http://schemas.openxmlformats.org/drawingml/2006/main" x="552450" y="2124075"/>
          <a:ext xmlns:a="http://schemas.openxmlformats.org/drawingml/2006/main" cx="7639050" cy="3390900"/>
        </p:xfrm>
        <a:graphic xmlns:a="http://schemas.openxmlformats.org/drawingml/2006/main">
          <a:graphicData uri="http://schemas.openxmlformats.org/drawingml/2006/chart">
            <c:chart xmlns:r="http://schemas.openxmlformats.org/officeDocument/2006/relationships" xmlns:c="http://schemas.openxmlformats.org/drawingml/2006/chart" r:id="Raf9ba2506b3141bd"/>
          </a:graphicData>
        </a:graphic>
      </p:graphicFrame>
      <p:sp>
        <p:nvSpPr>
          <p:cNvPr id="5" name="texto-3">
            <a:extLst xmlns:a="http://schemas.openxmlformats.org/drawingml/2006/main">
              <a:ext uri="{FF2B5EF4-FFF2-40B4-BE49-F238E27FC236}">
                <a16:creationId xmlns:a16="http://schemas.microsoft.com/office/drawing/2014/main" id="{C776D05F-C098-4573-AB96-30FC84796D12}"/>
              </a:ext>
            </a:extLst>
          </p:cNvPr>
          <p:cNvSpPr>
            <a:spLocks xmlns:a="http://schemas.openxmlformats.org/drawingml/2006/main" noGrp="1"/>
          </p:cNvSpPr>
          <p:nvPr/>
        </p:nvSpPr>
        <p:spPr>
          <a:xfrm xmlns:a="http://schemas.openxmlformats.org/drawingml/2006/main">
            <a:off x="8667750" y="22479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87AC3"/>
                </a:solidFill>
                <a:latin typeface="Arial"/>
                <a:ea typeface="Arial"/>
                <a:cs typeface="Arial"/>
              </a:defRPr>
            </a:defPPr>
          </a:lstStyle>
          <a:p xmlns:a="http://schemas.openxmlformats.org/drawingml/2006/main">
            <a:pPr algn="l">
              <a:defRPr sz="2175" b="1">
                <a:solidFill>
                  <a:srgbClr val="287AC3"/>
                </a:solidFill>
                <a:latin typeface="Arial"/>
                <a:ea typeface="Arial"/>
                <a:cs typeface="Arial"/>
              </a:defRPr>
            </a:pPr>
            <a:r>
              <a:rPr sz="2175" b="1">
                <a:solidFill>
                  <a:srgbClr val="287AC3"/>
                </a:solidFill>
                <a:latin typeface="Arial"/>
                <a:ea typeface="Arial"/>
                <a:cs typeface="Arial"/>
              </a:rPr>
              <a:t>ALM-01</a:t>
            </a:r>
          </a:p>
        </p:txBody>
      </p:sp>
      <p:sp>
        <p:nvSpPr>
          <p:cNvPr id="6" name="texto-4">
            <a:extLst xmlns:a="http://schemas.openxmlformats.org/drawingml/2006/main">
              <a:ext uri="{FF2B5EF4-FFF2-40B4-BE49-F238E27FC236}">
                <a16:creationId xmlns:a16="http://schemas.microsoft.com/office/drawing/2014/main" id="{EB26D0B6-2560-4903-98EE-12C9F879AA3A}"/>
              </a:ext>
            </a:extLst>
          </p:cNvPr>
          <p:cNvSpPr>
            <a:spLocks xmlns:a="http://schemas.openxmlformats.org/drawingml/2006/main" noGrp="1"/>
          </p:cNvSpPr>
          <p:nvPr/>
        </p:nvSpPr>
        <p:spPr>
          <a:xfrm xmlns:a="http://schemas.openxmlformats.org/drawingml/2006/main">
            <a:off x="8667750" y="2752725"/>
            <a:ext cx="2857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A3A"/>
                </a:solidFill>
                <a:latin typeface="Arial"/>
                <a:ea typeface="Arial"/>
                <a:cs typeface="Arial"/>
              </a:defRPr>
            </a:defPPr>
          </a:lstStyle>
          <a:p xmlns:a="http://schemas.openxmlformats.org/drawingml/2006/main">
            <a:pPr algn="l">
              <a:defRPr sz="2025" b="0">
                <a:solidFill>
                  <a:srgbClr val="132A3A"/>
                </a:solidFill>
                <a:latin typeface="Arial"/>
                <a:ea typeface="Arial"/>
                <a:cs typeface="Arial"/>
              </a:defRPr>
            </a:pPr>
            <a:r>
              <a:rPr sz="2025" b="0">
                <a:solidFill>
                  <a:srgbClr val="132A3A"/>
                </a:solidFill>
                <a:latin typeface="Arial"/>
                <a:ea typeface="Arial"/>
                <a:cs typeface="Arial"/>
              </a:rPr>
              <a:t>Condiciones más estables.</a:t>
            </a:r>
          </a:p>
        </p:txBody>
      </p:sp>
      <p:sp>
        <p:nvSpPr>
          <p:cNvPr id="7" name="texto-5">
            <a:extLst xmlns:a="http://schemas.openxmlformats.org/drawingml/2006/main">
              <a:ext uri="{FF2B5EF4-FFF2-40B4-BE49-F238E27FC236}">
                <a16:creationId xmlns:a16="http://schemas.microsoft.com/office/drawing/2014/main" id="{018095E5-514B-4E96-AE4B-F7539E46304E}"/>
              </a:ext>
            </a:extLst>
          </p:cNvPr>
          <p:cNvSpPr>
            <a:spLocks xmlns:a="http://schemas.openxmlformats.org/drawingml/2006/main" noGrp="1"/>
          </p:cNvSpPr>
          <p:nvPr/>
        </p:nvSpPr>
        <p:spPr>
          <a:xfrm xmlns:a="http://schemas.openxmlformats.org/drawingml/2006/main">
            <a:off x="8667750" y="38385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B86712"/>
                </a:solidFill>
                <a:latin typeface="Arial"/>
                <a:ea typeface="Arial"/>
                <a:cs typeface="Arial"/>
              </a:defRPr>
            </a:defPPr>
          </a:lstStyle>
          <a:p xmlns:a="http://schemas.openxmlformats.org/drawingml/2006/main">
            <a:pPr algn="l">
              <a:defRPr sz="2175" b="1">
                <a:solidFill>
                  <a:srgbClr val="B86712"/>
                </a:solidFill>
                <a:latin typeface="Arial"/>
                <a:ea typeface="Arial"/>
                <a:cs typeface="Arial"/>
              </a:defRPr>
            </a:pPr>
            <a:r>
              <a:rPr sz="2175" b="1">
                <a:solidFill>
                  <a:srgbClr val="B86712"/>
                </a:solidFill>
                <a:latin typeface="Arial"/>
                <a:ea typeface="Arial"/>
                <a:cs typeface="Arial"/>
              </a:rPr>
              <a:t>ALM-02</a:t>
            </a:r>
          </a:p>
        </p:txBody>
      </p:sp>
      <p:sp>
        <p:nvSpPr>
          <p:cNvPr id="8" name="texto-6">
            <a:extLst xmlns:a="http://schemas.openxmlformats.org/drawingml/2006/main">
              <a:ext uri="{FF2B5EF4-FFF2-40B4-BE49-F238E27FC236}">
                <a16:creationId xmlns:a16="http://schemas.microsoft.com/office/drawing/2014/main" id="{4E2D1AA1-F19C-41FD-A188-FDD759C98050}"/>
              </a:ext>
            </a:extLst>
          </p:cNvPr>
          <p:cNvSpPr>
            <a:spLocks xmlns:a="http://schemas.openxmlformats.org/drawingml/2006/main" noGrp="1"/>
          </p:cNvSpPr>
          <p:nvPr/>
        </p:nvSpPr>
        <p:spPr>
          <a:xfrm xmlns:a="http://schemas.openxmlformats.org/drawingml/2006/main">
            <a:off x="8667750" y="4343400"/>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A3A"/>
                </a:solidFill>
                <a:latin typeface="Arial"/>
                <a:ea typeface="Arial"/>
                <a:cs typeface="Arial"/>
              </a:defRPr>
            </a:defPPr>
          </a:lstStyle>
          <a:p xmlns:a="http://schemas.openxmlformats.org/drawingml/2006/main">
            <a:pPr algn="l">
              <a:defRPr sz="2025" b="0">
                <a:solidFill>
                  <a:srgbClr val="132A3A"/>
                </a:solidFill>
                <a:latin typeface="Arial"/>
                <a:ea typeface="Arial"/>
                <a:cs typeface="Arial"/>
              </a:defRPr>
            </a:pPr>
            <a:r>
              <a:rPr sz="2025" b="0">
                <a:solidFill>
                  <a:srgbClr val="132A3A"/>
                </a:solidFill>
                <a:latin typeface="Arial"/>
                <a:ea typeface="Arial"/>
                <a:cs typeface="Arial"/>
              </a:rPr>
              <a:t>Calentamiento y recuperación programados.</a:t>
            </a:r>
          </a:p>
        </p:txBody>
      </p:sp>
      <p:sp>
        <p:nvSpPr>
          <p:cNvPr id="9" name="texto-7">
            <a:extLst xmlns:a="http://schemas.openxmlformats.org/drawingml/2006/main">
              <a:ext uri="{FF2B5EF4-FFF2-40B4-BE49-F238E27FC236}">
                <a16:creationId xmlns:a16="http://schemas.microsoft.com/office/drawing/2014/main" id="{67D7A9CA-FDD4-4F6C-83D6-D1104775538A}"/>
              </a:ext>
            </a:extLst>
          </p:cNvPr>
          <p:cNvSpPr>
            <a:spLocks xmlns:a="http://schemas.openxmlformats.org/drawingml/2006/main" noGrp="1"/>
          </p:cNvSpPr>
          <p:nvPr/>
        </p:nvSpPr>
        <p:spPr>
          <a:xfrm xmlns:a="http://schemas.openxmlformats.org/drawingml/2006/main">
            <a:off x="609600" y="5800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26878"/>
                </a:solidFill>
                <a:latin typeface="Arial"/>
                <a:ea typeface="Arial"/>
                <a:cs typeface="Arial"/>
              </a:defRPr>
            </a:defPPr>
          </a:lstStyle>
          <a:p xmlns:a="http://schemas.openxmlformats.org/drawingml/2006/main">
            <a:pPr algn="l">
              <a:defRPr sz="1725" b="0">
                <a:solidFill>
                  <a:srgbClr val="526878"/>
                </a:solidFill>
                <a:latin typeface="Arial"/>
                <a:ea typeface="Arial"/>
                <a:cs typeface="Arial"/>
              </a:defRPr>
            </a:pPr>
            <a:r>
              <a:rPr sz="1725" b="0">
                <a:solidFill>
                  <a:srgbClr val="526878"/>
                </a:solidFill>
                <a:latin typeface="Arial"/>
                <a:ea typeface="Arial"/>
                <a:cs typeface="Arial"/>
              </a:rPr>
              <a:t>Perfil calculado por el modelo sin espera real, con semilla 7</a:t>
            </a:r>
          </a:p>
        </p:txBody>
      </p:sp>
    </p:spTree>
    <p:extLst>
      <p:ext uri="{BB962C8B-B14F-4D97-AF65-F5344CB8AC3E}">
        <p14:creationId xmlns:p14="http://schemas.microsoft.com/office/powerpoint/2010/main" val="1855903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638D35F7-ACE6-4E38-B5B7-11BCA4D8A780}"/>
              </a:ext>
            </a:extLst>
          </p:cNvPr>
          <p:cNvCxnSpPr>
            <a:stCxn xmlns:a="http://schemas.openxmlformats.org/drawingml/2006/main" id="5" idx="3"/>
            <a:endCxn xmlns:a="http://schemas.openxmlformats.org/drawingml/2006/main" id="6" idx="1"/>
          </p:cNvCxnSpPr>
          <p:nvPr/>
        </p:nvCxnSpPr>
        <p:spPr>
          <a:xfrm xmlns:a="http://schemas.openxmlformats.org/drawingml/2006/main">
            <a:off x="6953250" y="2824163"/>
            <a:ext cx="129540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7" name="">
            <a:extLst xmlns:a="http://schemas.openxmlformats.org/drawingml/2006/main">
              <a:ext uri="{FF2B5EF4-FFF2-40B4-BE49-F238E27FC236}">
                <a16:creationId xmlns:a16="http://schemas.microsoft.com/office/drawing/2014/main" id="{85DB8D6D-A52E-403E-B18B-E50A8490903F}"/>
              </a:ext>
            </a:extLst>
          </p:cNvPr>
          <p:cNvCxnSpPr>
            <a:stCxn xmlns:a="http://schemas.openxmlformats.org/drawingml/2006/main" id="4" idx="3"/>
            <a:endCxn xmlns:a="http://schemas.openxmlformats.org/drawingml/2006/main" id="5" idx="1"/>
          </p:cNvCxnSpPr>
          <p:nvPr/>
        </p:nvCxnSpPr>
        <p:spPr>
          <a:xfrm xmlns:a="http://schemas.openxmlformats.org/drawingml/2006/main">
            <a:off x="3162300" y="2824163"/>
            <a:ext cx="1238250" cy="0"/>
          </a:xfrm>
          <a:prstGeom xmlns:a="http://schemas.openxmlformats.org/drawingml/2006/main" prst="straightConnector1">
            <a:avLst/>
          </a:prstGeom>
          <a:ln xmlns:a="http://schemas.openxmlformats.org/drawingml/2006/main" w="23813">
            <a:solidFill>
              <a:srgbClr val="007F86"/>
            </a:solidFill>
            <a:tailEnd type="arrow" w="med" len="med"/>
          </a:ln>
        </p:spPr>
      </p:cxnSp>
      <p:sp>
        <p:nvSpPr>
          <p:cNvPr id="15" name="texto-0">
            <a:extLst xmlns:a="http://schemas.openxmlformats.org/drawingml/2006/main">
              <a:ext uri="{FF2B5EF4-FFF2-40B4-BE49-F238E27FC236}">
                <a16:creationId xmlns:a16="http://schemas.microsoft.com/office/drawing/2014/main" id="{467054F9-BF9C-4FD7-A0B3-1030DBDD8D05}"/>
              </a:ext>
            </a:extLst>
          </p:cNvPr>
          <p:cNvSpPr>
            <a:spLocks xmlns:a="http://schemas.openxmlformats.org/drawingml/2006/main" noGrp="1"/>
          </p:cNvSpPr>
          <p:nvPr/>
        </p:nvSpPr>
        <p:spPr>
          <a:xfrm xmlns:a="http://schemas.openxmlformats.org/drawingml/2006/main">
            <a:off x="609600" y="45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132A3A"/>
                </a:solidFill>
                <a:latin typeface="Arial"/>
                <a:ea typeface="Arial"/>
                <a:cs typeface="Arial"/>
              </a:defRPr>
            </a:defPPr>
          </a:lstStyle>
          <a:p xmlns:a="http://schemas.openxmlformats.org/drawingml/2006/main">
            <a:pPr algn="l">
              <a:defRPr sz="3300" b="1">
                <a:solidFill>
                  <a:srgbClr val="132A3A"/>
                </a:solidFill>
                <a:latin typeface="Arial"/>
                <a:ea typeface="Arial"/>
                <a:cs typeface="Arial"/>
              </a:defRPr>
            </a:pPr>
            <a:r>
              <a:rPr sz="3300" b="1">
                <a:solidFill>
                  <a:srgbClr val="132A3A"/>
                </a:solidFill>
                <a:latin typeface="Arial"/>
                <a:ea typeface="Arial"/>
                <a:cs typeface="Arial"/>
              </a:rPr>
              <a:t>Comunicación y recepción de datos</a:t>
            </a:r>
          </a:p>
        </p:txBody>
      </p:sp>
      <p:sp>
        <p:nvSpPr>
          <p:cNvPr id="2" name="texto-1">
            <a:extLst xmlns:a="http://schemas.openxmlformats.org/drawingml/2006/main">
              <a:ext uri="{FF2B5EF4-FFF2-40B4-BE49-F238E27FC236}">
                <a16:creationId xmlns:a16="http://schemas.microsoft.com/office/drawing/2014/main" id="{A8898415-9A9F-420A-B5E7-75AA5CA3E950}"/>
              </a:ext>
            </a:extLst>
          </p:cNvPr>
          <p:cNvSpPr>
            <a:spLocks xmlns:a="http://schemas.openxmlformats.org/drawingml/2006/main" noGrp="1"/>
          </p:cNvSpPr>
          <p:nvPr/>
        </p:nvSpPr>
        <p:spPr>
          <a:xfrm xmlns:a="http://schemas.openxmlformats.org/drawingml/2006/main">
            <a:off x="609600" y="6438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878"/>
                </a:solidFill>
                <a:latin typeface="Arial"/>
                <a:ea typeface="Arial"/>
                <a:cs typeface="Arial"/>
              </a:defRPr>
            </a:defPPr>
          </a:lstStyle>
          <a:p xmlns:a="http://schemas.openxmlformats.org/drawingml/2006/main">
            <a:pPr algn="l">
              <a:defRPr sz="1350" b="0">
                <a:solidFill>
                  <a:srgbClr val="526878"/>
                </a:solidFill>
                <a:latin typeface="Arial"/>
                <a:ea typeface="Arial"/>
                <a:cs typeface="Arial"/>
              </a:defRPr>
            </a:pPr>
            <a:r>
              <a:rPr sz="1350" b="0">
                <a:solidFill>
                  <a:srgbClr val="526878"/>
                </a:solidFill>
                <a:latin typeface="Arial"/>
                <a:ea typeface="Arial"/>
                <a:cs typeface="Arial"/>
              </a:rPr>
              <a:t>TA3  06</a:t>
            </a:r>
          </a:p>
        </p:txBody>
      </p:sp>
      <p:sp>
        <p:nvSpPr>
          <p:cNvPr id="3" name="texto-2">
            <a:extLst xmlns:a="http://schemas.openxmlformats.org/drawingml/2006/main">
              <a:ext uri="{FF2B5EF4-FFF2-40B4-BE49-F238E27FC236}">
                <a16:creationId xmlns:a16="http://schemas.microsoft.com/office/drawing/2014/main" id="{0D27A3D0-3FEB-48BA-87E5-0DB7A4DB5EC8}"/>
              </a:ext>
            </a:extLst>
          </p:cNvPr>
          <p:cNvSpPr>
            <a:spLocks xmlns:a="http://schemas.openxmlformats.org/drawingml/2006/main" noGrp="1"/>
          </p:cNvSpPr>
          <p:nvPr/>
        </p:nvSpPr>
        <p:spPr>
          <a:xfrm xmlns:a="http://schemas.openxmlformats.org/drawingml/2006/main">
            <a:off x="609600" y="12668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007F86"/>
                </a:solidFill>
                <a:latin typeface="Arial"/>
                <a:ea typeface="Arial"/>
                <a:cs typeface="Arial"/>
              </a:defRPr>
            </a:defPPr>
          </a:lstStyle>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MQTT es el protocolo. EMQX recibe y distribuye los mensajes.</a:t>
            </a:r>
          </a:p>
        </p:txBody>
      </p:sp>
      <p:sp>
        <p:nvSpPr>
          <p:cNvPr id="4" name="Nodos&#10;Publican">
            <a:extLst xmlns:a="http://schemas.openxmlformats.org/drawingml/2006/main">
              <a:ext uri="{FF2B5EF4-FFF2-40B4-BE49-F238E27FC236}">
                <a16:creationId xmlns:a16="http://schemas.microsoft.com/office/drawing/2014/main" id="{15DB3D13-091F-4A99-984A-7A1AE9D8FCD8}"/>
              </a:ext>
            </a:extLst>
          </p:cNvPr>
          <p:cNvSpPr>
            <a:spLocks xmlns:a="http://schemas.openxmlformats.org/drawingml/2006/main" noGrp="1"/>
          </p:cNvSpPr>
          <p:nvPr/>
        </p:nvSpPr>
        <p:spPr>
          <a:xfrm xmlns:a="http://schemas.openxmlformats.org/drawingml/2006/main">
            <a:off x="609600" y="2314575"/>
            <a:ext cx="2552700" cy="1019175"/>
          </a:xfrm>
          <a:prstGeom xmlns:a="http://schemas.openxmlformats.org/drawingml/2006/main" prst="roundRect">
            <a:avLst>
              <a:gd name="adj" fmla="val 9346"/>
            </a:avLst>
          </a:prstGeom>
          <a:solidFill xmlns:a="http://schemas.openxmlformats.org/drawingml/2006/main">
            <a:srgbClr val="F5F9FA"/>
          </a:solidFill>
          <a:ln xmlns:a="http://schemas.openxmlformats.org/drawingml/2006/main" w="19050">
            <a:solidFill>
              <a:srgbClr val="287AC3"/>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Nodos</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Publican</a:t>
            </a:r>
          </a:p>
        </p:txBody>
      </p:sp>
      <p:sp>
        <p:nvSpPr>
          <p:cNvPr id="5" name="EMQX&#10;Distribuye">
            <a:extLst xmlns:a="http://schemas.openxmlformats.org/drawingml/2006/main">
              <a:ext uri="{FF2B5EF4-FFF2-40B4-BE49-F238E27FC236}">
                <a16:creationId xmlns:a16="http://schemas.microsoft.com/office/drawing/2014/main" id="{24D80F63-2492-4C18-B202-E3C2360B7E6D}"/>
              </a:ext>
            </a:extLst>
          </p:cNvPr>
          <p:cNvSpPr>
            <a:spLocks xmlns:a="http://schemas.openxmlformats.org/drawingml/2006/main" noGrp="1"/>
          </p:cNvSpPr>
          <p:nvPr/>
        </p:nvSpPr>
        <p:spPr>
          <a:xfrm xmlns:a="http://schemas.openxmlformats.org/drawingml/2006/main">
            <a:off x="4400550" y="2314575"/>
            <a:ext cx="2552700" cy="1019175"/>
          </a:xfrm>
          <a:prstGeom xmlns:a="http://schemas.openxmlformats.org/drawingml/2006/main" prst="roundRect">
            <a:avLst>
              <a:gd name="adj" fmla="val 9346"/>
            </a:avLst>
          </a:prstGeom>
          <a:solidFill xmlns:a="http://schemas.openxmlformats.org/drawingml/2006/main">
            <a:srgbClr val="F5F9FA"/>
          </a:solidFill>
          <a:ln xmlns:a="http://schemas.openxmlformats.org/drawingml/2006/main" w="19050">
            <a:solidFill>
              <a:srgbClr val="007F86"/>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EMQX</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Distribuye</a:t>
            </a:r>
          </a:p>
        </p:txBody>
      </p:sp>
      <p:sp>
        <p:nvSpPr>
          <p:cNvPr id="6" name="Receptor&#10;Procesa">
            <a:extLst xmlns:a="http://schemas.openxmlformats.org/drawingml/2006/main">
              <a:ext uri="{FF2B5EF4-FFF2-40B4-BE49-F238E27FC236}">
                <a16:creationId xmlns:a16="http://schemas.microsoft.com/office/drawing/2014/main" id="{3C478898-4329-4155-83CB-EEFC68870119}"/>
              </a:ext>
            </a:extLst>
          </p:cNvPr>
          <p:cNvSpPr>
            <a:spLocks xmlns:a="http://schemas.openxmlformats.org/drawingml/2006/main" noGrp="1"/>
          </p:cNvSpPr>
          <p:nvPr/>
        </p:nvSpPr>
        <p:spPr>
          <a:xfrm xmlns:a="http://schemas.openxmlformats.org/drawingml/2006/main">
            <a:off x="8248650" y="2314575"/>
            <a:ext cx="2952750" cy="1019175"/>
          </a:xfrm>
          <a:prstGeom xmlns:a="http://schemas.openxmlformats.org/drawingml/2006/main" prst="roundRect">
            <a:avLst>
              <a:gd name="adj" fmla="val 9346"/>
            </a:avLst>
          </a:prstGeom>
          <a:solidFill xmlns:a="http://schemas.openxmlformats.org/drawingml/2006/main">
            <a:srgbClr val="F5F9FA"/>
          </a:solidFill>
          <a:ln xmlns:a="http://schemas.openxmlformats.org/drawingml/2006/main" w="19050">
            <a:solidFill>
              <a:srgbClr val="147D57"/>
            </a:solidFill>
          </a:ln>
        </p:spPr>
        <p:txBody>
          <a:bodyPr xmlns:a="http://schemas.openxmlformats.org/drawingml/2006/main" lIns="133350" tIns="133350" rIns="133350" bIns="133350" anchor="ctr"/>
          <a:lstStyle xmlns:a="http://schemas.openxmlformats.org/drawingml/2006/main">
            <a:defPPr algn="ctr">
              <a:defRPr sz="1875" b="1">
                <a:solidFill>
                  <a:srgbClr val="132A3A"/>
                </a:solidFill>
                <a:latin typeface="Arial"/>
                <a:ea typeface="Arial"/>
                <a:cs typeface="Arial"/>
              </a:defRPr>
            </a:defPPr>
          </a:lstStyle>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Receptor</a:t>
            </a:r>
          </a:p>
          <a:p xmlns:a="http://schemas.openxmlformats.org/drawingml/2006/main">
            <a:pPr algn="ctr">
              <a:defRPr sz="1875" b="1">
                <a:solidFill>
                  <a:srgbClr val="132A3A"/>
                </a:solidFill>
                <a:latin typeface="Arial"/>
                <a:ea typeface="Arial"/>
                <a:cs typeface="Arial"/>
              </a:defRPr>
            </a:pPr>
            <a:r>
              <a:rPr sz="1875" b="1">
                <a:solidFill>
                  <a:srgbClr val="132A3A"/>
                </a:solidFill>
                <a:latin typeface="Arial"/>
                <a:ea typeface="Arial"/>
                <a:cs typeface="Arial"/>
              </a:rPr>
              <a:t>Procesa</a:t>
            </a:r>
          </a:p>
        </p:txBody>
      </p:sp>
      <p:sp>
        <p:nvSpPr>
          <p:cNvPr id="9" name="texto-8">
            <a:extLst xmlns:a="http://schemas.openxmlformats.org/drawingml/2006/main">
              <a:ext uri="{FF2B5EF4-FFF2-40B4-BE49-F238E27FC236}">
                <a16:creationId xmlns:a16="http://schemas.microsoft.com/office/drawing/2014/main" id="{4319E371-9358-43B1-A642-1E0654B1165A}"/>
              </a:ext>
            </a:extLst>
          </p:cNvPr>
          <p:cNvSpPr>
            <a:spLocks xmlns:a="http://schemas.openxmlformats.org/drawingml/2006/main" noGrp="1"/>
          </p:cNvSpPr>
          <p:nvPr/>
        </p:nvSpPr>
        <p:spPr>
          <a:xfrm xmlns:a="http://schemas.openxmlformats.org/drawingml/2006/main">
            <a:off x="609600" y="3762375"/>
            <a:ext cx="4857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32A3A"/>
                </a:solidFill>
                <a:latin typeface="Arial"/>
                <a:ea typeface="Arial"/>
                <a:cs typeface="Arial"/>
              </a:defRPr>
            </a:defPPr>
          </a:lstStyle>
          <a:p xmlns:a="http://schemas.openxmlformats.org/drawingml/2006/main">
            <a:pPr algn="l">
              <a:defRPr sz="2100" b="1">
                <a:solidFill>
                  <a:srgbClr val="132A3A"/>
                </a:solidFill>
                <a:latin typeface="Arial"/>
                <a:ea typeface="Arial"/>
                <a:cs typeface="Arial"/>
              </a:defRPr>
            </a:pPr>
            <a:r>
              <a:rPr sz="2100" b="1">
                <a:solidFill>
                  <a:srgbClr val="132A3A"/>
                </a:solidFill>
                <a:latin typeface="Arial"/>
                <a:ea typeface="Arial"/>
                <a:cs typeface="Arial"/>
              </a:rPr>
              <a:t>Tópicos por nodo</a:t>
            </a:r>
          </a:p>
        </p:txBody>
      </p:sp>
      <p:sp>
        <p:nvSpPr>
          <p:cNvPr id="10" name="texto-9">
            <a:extLst xmlns:a="http://schemas.openxmlformats.org/drawingml/2006/main">
              <a:ext uri="{FF2B5EF4-FFF2-40B4-BE49-F238E27FC236}">
                <a16:creationId xmlns:a16="http://schemas.microsoft.com/office/drawing/2014/main" id="{E5898B60-2C68-44C6-9507-CB72339473FC}"/>
              </a:ext>
            </a:extLst>
          </p:cNvPr>
          <p:cNvSpPr>
            <a:spLocks xmlns:a="http://schemas.openxmlformats.org/drawingml/2006/main" noGrp="1"/>
          </p:cNvSpPr>
          <p:nvPr/>
        </p:nvSpPr>
        <p:spPr>
          <a:xfrm xmlns:a="http://schemas.openxmlformats.org/drawingml/2006/main">
            <a:off x="609600" y="4352925"/>
            <a:ext cx="628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26878"/>
                </a:solidFill>
                <a:latin typeface="Arial"/>
                <a:ea typeface="Arial"/>
                <a:cs typeface="Arial"/>
              </a:defRPr>
            </a:defPPr>
          </a:lstStyle>
          <a:p xmlns:a="http://schemas.openxmlformats.org/drawingml/2006/main">
            <a:pPr algn="l">
              <a:defRPr sz="1800" b="0">
                <a:solidFill>
                  <a:srgbClr val="526878"/>
                </a:solidFill>
                <a:latin typeface="Arial"/>
                <a:ea typeface="Arial"/>
                <a:cs typeface="Arial"/>
              </a:defRPr>
            </a:pPr>
            <a:r>
              <a:rPr sz="1800" b="0">
                <a:solidFill>
                  <a:srgbClr val="526878"/>
                </a:solidFill>
                <a:latin typeface="Arial"/>
                <a:ea typeface="Arial"/>
                <a:cs typeface="Arial"/>
              </a:rPr>
              <a:t>ta3/almacen/ALM-01/temperatura</a:t>
            </a:r>
          </a:p>
          <a:p xmlns:a="http://schemas.openxmlformats.org/drawingml/2006/main">
            <a:pPr algn="l">
              <a:defRPr sz="1800" b="0">
                <a:solidFill>
                  <a:srgbClr val="526878"/>
                </a:solidFill>
                <a:latin typeface="Arial"/>
                <a:ea typeface="Arial"/>
                <a:cs typeface="Arial"/>
              </a:defRPr>
            </a:pPr>
            <a:r>
              <a:rPr sz="1800" b="0">
                <a:solidFill>
                  <a:srgbClr val="526878"/>
                </a:solidFill>
                <a:latin typeface="Arial"/>
                <a:ea typeface="Arial"/>
                <a:cs typeface="Arial"/>
              </a:rPr>
              <a:t>ta3/almacen/ALM-02/temperatura</a:t>
            </a:r>
          </a:p>
        </p:txBody>
      </p:sp>
      <p:sp>
        <p:nvSpPr>
          <p:cNvPr id="11" name="texto-10">
            <a:extLst xmlns:a="http://schemas.openxmlformats.org/drawingml/2006/main">
              <a:ext uri="{FF2B5EF4-FFF2-40B4-BE49-F238E27FC236}">
                <a16:creationId xmlns:a16="http://schemas.microsoft.com/office/drawing/2014/main" id="{ED271EB6-BA6F-439B-B9D8-4A97FDB8A753}"/>
              </a:ext>
            </a:extLst>
          </p:cNvPr>
          <p:cNvSpPr>
            <a:spLocks xmlns:a="http://schemas.openxmlformats.org/drawingml/2006/main" noGrp="1"/>
          </p:cNvSpPr>
          <p:nvPr/>
        </p:nvSpPr>
        <p:spPr>
          <a:xfrm xmlns:a="http://schemas.openxmlformats.org/drawingml/2006/main">
            <a:off x="7543800" y="3762375"/>
            <a:ext cx="4095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132A3A"/>
                </a:solidFill>
                <a:latin typeface="Arial"/>
                <a:ea typeface="Arial"/>
                <a:cs typeface="Arial"/>
              </a:defRPr>
            </a:defPPr>
          </a:lstStyle>
          <a:p xmlns:a="http://schemas.openxmlformats.org/drawingml/2006/main">
            <a:pPr algn="l">
              <a:defRPr sz="2100" b="1">
                <a:solidFill>
                  <a:srgbClr val="132A3A"/>
                </a:solidFill>
                <a:latin typeface="Arial"/>
                <a:ea typeface="Arial"/>
                <a:cs typeface="Arial"/>
              </a:defRPr>
            </a:pPr>
            <a:r>
              <a:rPr sz="2100" b="1">
                <a:solidFill>
                  <a:srgbClr val="132A3A"/>
                </a:solidFill>
                <a:latin typeface="Arial"/>
                <a:ea typeface="Arial"/>
                <a:cs typeface="Arial"/>
              </a:rPr>
              <a:t>Suscripción del receptor</a:t>
            </a:r>
          </a:p>
        </p:txBody>
      </p:sp>
      <p:sp>
        <p:nvSpPr>
          <p:cNvPr id="12" name="texto-11">
            <a:extLst xmlns:a="http://schemas.openxmlformats.org/drawingml/2006/main">
              <a:ext uri="{FF2B5EF4-FFF2-40B4-BE49-F238E27FC236}">
                <a16:creationId xmlns:a16="http://schemas.microsoft.com/office/drawing/2014/main" id="{F61B12F9-F61A-48C5-9851-2FA584A1660D}"/>
              </a:ext>
            </a:extLst>
          </p:cNvPr>
          <p:cNvSpPr>
            <a:spLocks xmlns:a="http://schemas.openxmlformats.org/drawingml/2006/main" noGrp="1"/>
          </p:cNvSpPr>
          <p:nvPr/>
        </p:nvSpPr>
        <p:spPr>
          <a:xfrm xmlns:a="http://schemas.openxmlformats.org/drawingml/2006/main">
            <a:off x="7543800" y="43529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526878"/>
                </a:solidFill>
                <a:latin typeface="Arial"/>
                <a:ea typeface="Arial"/>
                <a:cs typeface="Arial"/>
              </a:defRPr>
            </a:defPPr>
          </a:lstStyle>
          <a:p xmlns:a="http://schemas.openxmlformats.org/drawingml/2006/main">
            <a:pPr algn="l">
              <a:defRPr sz="1800" b="0">
                <a:solidFill>
                  <a:srgbClr val="526878"/>
                </a:solidFill>
                <a:latin typeface="Arial"/>
                <a:ea typeface="Arial"/>
                <a:cs typeface="Arial"/>
              </a:defRPr>
            </a:pPr>
            <a:r>
              <a:rPr sz="1800" b="0">
                <a:solidFill>
                  <a:srgbClr val="526878"/>
                </a:solidFill>
                <a:latin typeface="Arial"/>
                <a:ea typeface="Arial"/>
                <a:cs typeface="Arial"/>
              </a:rPr>
              <a:t>ta3/almacen/+/temperatura</a:t>
            </a:r>
          </a:p>
        </p:txBody>
      </p:sp>
      <p:sp>
        <p:nvSpPr>
          <p:cNvPr id="13" name="texto-12">
            <a:extLst xmlns:a="http://schemas.openxmlformats.org/drawingml/2006/main">
              <a:ext uri="{FF2B5EF4-FFF2-40B4-BE49-F238E27FC236}">
                <a16:creationId xmlns:a16="http://schemas.microsoft.com/office/drawing/2014/main" id="{BCA27133-3A06-46AB-AD5B-73279A2F7370}"/>
              </a:ext>
            </a:extLst>
          </p:cNvPr>
          <p:cNvSpPr>
            <a:spLocks xmlns:a="http://schemas.openxmlformats.org/drawingml/2006/main" noGrp="1"/>
          </p:cNvSpPr>
          <p:nvPr/>
        </p:nvSpPr>
        <p:spPr>
          <a:xfrm xmlns:a="http://schemas.openxmlformats.org/drawingml/2006/main">
            <a:off x="609600" y="54292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50" b="1">
                <a:solidFill>
                  <a:srgbClr val="007F86"/>
                </a:solidFill>
                <a:latin typeface="Arial"/>
                <a:ea typeface="Arial"/>
                <a:cs typeface="Arial"/>
              </a:defRPr>
            </a:defPPr>
          </a:lstStyle>
          <a:p xmlns:a="http://schemas.openxmlformats.org/drawingml/2006/main">
            <a:pPr algn="l">
              <a:defRPr sz="2250" b="1">
                <a:solidFill>
                  <a:srgbClr val="007F86"/>
                </a:solidFill>
                <a:latin typeface="Arial"/>
                <a:ea typeface="Arial"/>
                <a:cs typeface="Arial"/>
              </a:defRPr>
            </a:pPr>
            <a:r>
              <a:rPr sz="2250" b="1">
                <a:solidFill>
                  <a:srgbClr val="007F86"/>
                </a:solidFill>
                <a:latin typeface="Arial"/>
                <a:ea typeface="Arial"/>
                <a:cs typeface="Arial"/>
              </a:rPr>
              <a:t>QoS 1 confirma la recepción por el broker</a:t>
            </a:r>
          </a:p>
        </p:txBody>
      </p:sp>
      <p:sp>
        <p:nvSpPr>
          <p:cNvPr id="14" name="texto-13">
            <a:extLst xmlns:a="http://schemas.openxmlformats.org/drawingml/2006/main">
              <a:ext uri="{FF2B5EF4-FFF2-40B4-BE49-F238E27FC236}">
                <a16:creationId xmlns:a16="http://schemas.microsoft.com/office/drawing/2014/main" id="{84D559C3-6FB5-45BE-A1C0-532A75627B32}"/>
              </a:ext>
            </a:extLst>
          </p:cNvPr>
          <p:cNvSpPr>
            <a:spLocks xmlns:a="http://schemas.openxmlformats.org/drawingml/2006/main" noGrp="1"/>
          </p:cNvSpPr>
          <p:nvPr/>
        </p:nvSpPr>
        <p:spPr>
          <a:xfrm xmlns:a="http://schemas.openxmlformats.org/drawingml/2006/main">
            <a:off x="609600" y="5962650"/>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32A3A"/>
                </a:solidFill>
                <a:latin typeface="Arial"/>
                <a:ea typeface="Arial"/>
                <a:cs typeface="Arial"/>
              </a:defRPr>
            </a:defPPr>
          </a:lstStyle>
          <a:p xmlns:a="http://schemas.openxmlformats.org/drawingml/2006/main">
            <a:pPr algn="l">
              <a:defRPr sz="1875" b="0">
                <a:solidFill>
                  <a:srgbClr val="132A3A"/>
                </a:solidFill>
                <a:latin typeface="Arial"/>
                <a:ea typeface="Arial"/>
                <a:cs typeface="Arial"/>
              </a:defRPr>
            </a:pPr>
            <a:r>
              <a:rPr sz="1875" b="0">
                <a:solidFill>
                  <a:srgbClr val="132A3A"/>
                </a:solidFill>
                <a:latin typeface="Arial"/>
                <a:ea typeface="Arial"/>
                <a:cs typeface="Arial"/>
              </a:rPr>
              <a:t>publicar(clientes[sensor], topico, mensaje)</a:t>
            </a:r>
          </a:p>
        </p:txBody>
      </p:sp>
    </p:spTree>
    <p:extLst>
      <p:ext uri="{BB962C8B-B14F-4D97-AF65-F5344CB8AC3E}">
        <p14:creationId xmlns:p14="http://schemas.microsoft.com/office/powerpoint/2010/main" val="9763570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o-0">
            <a:extLst xmlns:a="http://schemas.openxmlformats.org/drawingml/2006/main">
              <a:ext uri="{FF2B5EF4-FFF2-40B4-BE49-F238E27FC236}">
                <a16:creationId xmlns:a16="http://schemas.microsoft.com/office/drawing/2014/main" id="{1CAEBD29-2BC3-4D7D-9B0F-A19554FC7EE6}"/>
              </a:ext>
            </a:extLst>
          </p:cNvPr>
          <p:cNvSpPr>
            <a:spLocks xmlns:a="http://schemas.openxmlformats.org/drawingml/2006/main" noGrp="1"/>
          </p:cNvSpPr>
          <p:nvPr/>
        </p:nvSpPr>
        <p:spPr>
          <a:xfrm xmlns:a="http://schemas.openxmlformats.org/drawingml/2006/main">
            <a:off x="609600" y="45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132A3A"/>
                </a:solidFill>
                <a:latin typeface="Arial"/>
                <a:ea typeface="Arial"/>
                <a:cs typeface="Arial"/>
              </a:defRPr>
            </a:defPPr>
          </a:lstStyle>
          <a:p xmlns:a="http://schemas.openxmlformats.org/drawingml/2006/main">
            <a:pPr algn="l">
              <a:defRPr sz="3300" b="1">
                <a:solidFill>
                  <a:srgbClr val="132A3A"/>
                </a:solidFill>
                <a:latin typeface="Arial"/>
                <a:ea typeface="Arial"/>
                <a:cs typeface="Arial"/>
              </a:defRPr>
            </a:pPr>
            <a:r>
              <a:rPr sz="3300" b="1">
                <a:solidFill>
                  <a:srgbClr val="132A3A"/>
                </a:solidFill>
                <a:latin typeface="Arial"/>
                <a:ea typeface="Arial"/>
                <a:cs typeface="Arial"/>
              </a:rPr>
              <a:t>Validación y almacenamiento en InfluxDB</a:t>
            </a:r>
          </a:p>
        </p:txBody>
      </p:sp>
      <p:sp>
        <p:nvSpPr>
          <p:cNvPr id="2" name="texto-1">
            <a:extLst xmlns:a="http://schemas.openxmlformats.org/drawingml/2006/main">
              <a:ext uri="{FF2B5EF4-FFF2-40B4-BE49-F238E27FC236}">
                <a16:creationId xmlns:a16="http://schemas.microsoft.com/office/drawing/2014/main" id="{3FA79EF1-7D62-42E0-849F-71751E737CB0}"/>
              </a:ext>
            </a:extLst>
          </p:cNvPr>
          <p:cNvSpPr>
            <a:spLocks xmlns:a="http://schemas.openxmlformats.org/drawingml/2006/main" noGrp="1"/>
          </p:cNvSpPr>
          <p:nvPr/>
        </p:nvSpPr>
        <p:spPr>
          <a:xfrm xmlns:a="http://schemas.openxmlformats.org/drawingml/2006/main">
            <a:off x="609600" y="6438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878"/>
                </a:solidFill>
                <a:latin typeface="Arial"/>
                <a:ea typeface="Arial"/>
                <a:cs typeface="Arial"/>
              </a:defRPr>
            </a:defPPr>
          </a:lstStyle>
          <a:p xmlns:a="http://schemas.openxmlformats.org/drawingml/2006/main">
            <a:pPr algn="l">
              <a:defRPr sz="1350" b="0">
                <a:solidFill>
                  <a:srgbClr val="526878"/>
                </a:solidFill>
                <a:latin typeface="Arial"/>
                <a:ea typeface="Arial"/>
                <a:cs typeface="Arial"/>
              </a:defRPr>
            </a:pPr>
            <a:r>
              <a:rPr sz="1350" b="0">
                <a:solidFill>
                  <a:srgbClr val="526878"/>
                </a:solidFill>
                <a:latin typeface="Arial"/>
                <a:ea typeface="Arial"/>
                <a:cs typeface="Arial"/>
              </a:rPr>
              <a:t>TA3  07</a:t>
            </a:r>
          </a:p>
        </p:txBody>
      </p:sp>
      <p:sp>
        <p:nvSpPr>
          <p:cNvPr id="3" name="texto-2">
            <a:extLst xmlns:a="http://schemas.openxmlformats.org/drawingml/2006/main">
              <a:ext uri="{FF2B5EF4-FFF2-40B4-BE49-F238E27FC236}">
                <a16:creationId xmlns:a16="http://schemas.microsoft.com/office/drawing/2014/main" id="{510C88F6-BE0B-4C57-B70D-8FFA0F6F7AFC}"/>
              </a:ext>
            </a:extLst>
          </p:cNvPr>
          <p:cNvSpPr>
            <a:spLocks xmlns:a="http://schemas.openxmlformats.org/drawingml/2006/main" noGrp="1"/>
          </p:cNvSpPr>
          <p:nvPr/>
        </p:nvSpPr>
        <p:spPr>
          <a:xfrm xmlns:a="http://schemas.openxmlformats.org/drawingml/2006/main">
            <a:off x="609600" y="1266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007F86"/>
                </a:solidFill>
                <a:latin typeface="Arial"/>
                <a:ea typeface="Arial"/>
                <a:cs typeface="Arial"/>
              </a:defRPr>
            </a:defPPr>
          </a:lstStyle>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InfluxDB conserva registros asociados a su fecha y hora</a:t>
            </a:r>
          </a:p>
        </p:txBody>
      </p:sp>
      <p:graphicFrame>
        <p:nvGraphicFramePr>
          <p:cNvPr id="4" name="">
            <a:extLst xmlns:a="http://schemas.openxmlformats.org/drawingml/2006/main">
              <a:ext uri="{FF2B5EF4-FFF2-40B4-BE49-F238E27FC236}">
                <a16:creationId xmlns:a16="http://schemas.microsoft.com/office/drawing/2014/main" id="{AEDC4EBF-01F6-42A3-960C-71C8E6F9812B}"/>
              </a:ext>
            </a:extLst>
          </p:cNvPr>
          <p:cNvGraphicFramePr/>
          <p:nvPr/>
        </p:nvGraphicFramePr>
        <p:xfrm>
          <a:off xmlns:a="http://schemas.openxmlformats.org/drawingml/2006/main" x="609600" y="2200275"/>
          <a:ext xmlns:a="http://schemas.openxmlformats.org/drawingml/2006/main" cx="6334125" cy="3171825"/>
        </p:xfrm>
        <a:graphic xmlns:a="http://schemas.openxmlformats.org/drawingml/2006/main">
          <a:graphicData uri="http://schemas.openxmlformats.org/drawingml/2006/table">
            <a:tbl>
              <a:tblPr/>
              <a:tblGrid>
                <a:gridCol w="2543175"/>
                <a:gridCol w="3790950"/>
              </a:tblGrid>
              <a:tr h="634365">
                <a:tc>
                  <a:txBody>
                    <a:bodyPr/>
                    <a:lstStyle/>
                    <a:p>
                      <a:r>
                        <a:rPr sz="1800" b="1">
                          <a:solidFill>
                            <a:srgbClr val="FFFFFF"/>
                          </a:solidFill>
                          <a:latin typeface="Arial"/>
                          <a:ea typeface="Arial"/>
                          <a:cs typeface="Arial"/>
                        </a:rPr>
                        <a:t>Dato</a:t>
                      </a:r>
                    </a:p>
                  </a:txBody>
                  <a:tcPr marL="91440" marR="91440" marT="45720" marB="45720">
                    <a:lnL w="9525">
                      <a:solidFill>
                        <a:srgbClr val="CFDCE3"/>
                      </a:solidFill>
                      <a:prstDash val="solid"/>
                    </a:lnL>
                    <a:lnR w="9525">
                      <a:solidFill>
                        <a:srgbClr val="CFDCE3"/>
                      </a:solidFill>
                      <a:prstDash val="solid"/>
                    </a:lnR>
                    <a:lnT w="9525">
                      <a:solidFill>
                        <a:srgbClr val="CFDCE3"/>
                      </a:solidFill>
                      <a:prstDash val="solid"/>
                    </a:lnT>
                    <a:lnB w="9525">
                      <a:solidFill>
                        <a:srgbClr val="CFDCE3"/>
                      </a:solidFill>
                      <a:prstDash val="solid"/>
                    </a:lnB>
                    <a:solidFill>
                      <a:srgbClr val="132A3A"/>
                    </a:solidFill>
                  </a:tcPr>
                </a:tc>
                <a:tc>
                  <a:txBody>
                    <a:bodyPr/>
                    <a:lstStyle/>
                    <a:p>
                      <a:r>
                        <a:rPr sz="1800" b="1">
                          <a:solidFill>
                            <a:srgbClr val="FFFFFF"/>
                          </a:solidFill>
                          <a:latin typeface="Arial"/>
                          <a:ea typeface="Arial"/>
                          <a:cs typeface="Arial"/>
                        </a:rPr>
                        <a:t>Función</a:t>
                      </a:r>
                    </a:p>
                  </a:txBody>
                  <a:tcPr marL="91440" marR="91440" marT="45720" marB="45720">
                    <a:lnR w="9525">
                      <a:solidFill>
                        <a:srgbClr val="CFDCE3"/>
                      </a:solidFill>
                      <a:prstDash val="solid"/>
                    </a:lnR>
                    <a:lnT w="9525">
                      <a:solidFill>
                        <a:srgbClr val="CFDCE3"/>
                      </a:solidFill>
                      <a:prstDash val="solid"/>
                    </a:lnT>
                    <a:lnB w="9525">
                      <a:solidFill>
                        <a:srgbClr val="CFDCE3"/>
                      </a:solidFill>
                      <a:prstDash val="solid"/>
                    </a:lnB>
                    <a:solidFill>
                      <a:srgbClr val="132A3A"/>
                    </a:solidFill>
                  </a:tcPr>
                </a:tc>
              </a:tr>
              <a:tr h="634365">
                <a:tc>
                  <a:txBody>
                    <a:bodyPr/>
                    <a:lstStyle/>
                    <a:p>
                      <a:r>
                        <a:rPr sz="1800" b="0">
                          <a:solidFill>
                            <a:srgbClr val="132A3A"/>
                          </a:solidFill>
                          <a:latin typeface="Arial"/>
                          <a:ea typeface="Arial"/>
                          <a:cs typeface="Arial"/>
                        </a:rPr>
                        <a:t>Sensor y zona</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FFFFF"/>
                    </a:solidFill>
                  </a:tcPr>
                </a:tc>
                <a:tc>
                  <a:txBody>
                    <a:bodyPr/>
                    <a:lstStyle/>
                    <a:p>
                      <a:r>
                        <a:rPr sz="1800" b="0">
                          <a:solidFill>
                            <a:srgbClr val="132A3A"/>
                          </a:solidFill>
                          <a:latin typeface="Arial"/>
                          <a:ea typeface="Arial"/>
                          <a:cs typeface="Arial"/>
                        </a:rPr>
                        <a:t>Identifican el origen</a:t>
                      </a:r>
                    </a:p>
                  </a:txBody>
                  <a:tcPr marL="91440" marR="91440" marT="45720" marB="45720">
                    <a:lnR w="9525">
                      <a:solidFill>
                        <a:srgbClr val="CFDCE3"/>
                      </a:solidFill>
                      <a:prstDash val="solid"/>
                    </a:lnR>
                    <a:lnB w="9525">
                      <a:solidFill>
                        <a:srgbClr val="CFDCE3"/>
                      </a:solidFill>
                      <a:prstDash val="solid"/>
                    </a:lnB>
                    <a:solidFill>
                      <a:srgbClr val="FFFFFF"/>
                    </a:solidFill>
                  </a:tcPr>
                </a:tc>
              </a:tr>
              <a:tr h="634365">
                <a:tc>
                  <a:txBody>
                    <a:bodyPr/>
                    <a:lstStyle/>
                    <a:p>
                      <a:r>
                        <a:rPr sz="1800" b="0">
                          <a:solidFill>
                            <a:srgbClr val="132A3A"/>
                          </a:solidFill>
                          <a:latin typeface="Arial"/>
                          <a:ea typeface="Arial"/>
                          <a:cs typeface="Arial"/>
                        </a:rPr>
                        <a:t>Temperatura</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2F6F8"/>
                    </a:solidFill>
                  </a:tcPr>
                </a:tc>
                <a:tc>
                  <a:txBody>
                    <a:bodyPr/>
                    <a:lstStyle/>
                    <a:p>
                      <a:r>
                        <a:rPr sz="1800" b="0">
                          <a:solidFill>
                            <a:srgbClr val="132A3A"/>
                          </a:solidFill>
                          <a:latin typeface="Arial"/>
                          <a:ea typeface="Arial"/>
                          <a:cs typeface="Arial"/>
                        </a:rPr>
                        <a:t>Valor numérico en °C</a:t>
                      </a:r>
                    </a:p>
                  </a:txBody>
                  <a:tcPr marL="91440" marR="91440" marT="45720" marB="45720">
                    <a:lnR w="9525">
                      <a:solidFill>
                        <a:srgbClr val="CFDCE3"/>
                      </a:solidFill>
                      <a:prstDash val="solid"/>
                    </a:lnR>
                    <a:lnB w="9525">
                      <a:solidFill>
                        <a:srgbClr val="CFDCE3"/>
                      </a:solidFill>
                      <a:prstDash val="solid"/>
                    </a:lnB>
                    <a:solidFill>
                      <a:srgbClr val="F2F6F8"/>
                    </a:solidFill>
                  </a:tcPr>
                </a:tc>
              </a:tr>
              <a:tr h="634365">
                <a:tc>
                  <a:txBody>
                    <a:bodyPr/>
                    <a:lstStyle/>
                    <a:p>
                      <a:r>
                        <a:rPr sz="1800" b="0">
                          <a:solidFill>
                            <a:srgbClr val="132A3A"/>
                          </a:solidFill>
                          <a:latin typeface="Arial"/>
                          <a:ea typeface="Arial"/>
                          <a:cs typeface="Arial"/>
                        </a:rPr>
                        <a:t>Fecha y hora</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FFFFF"/>
                    </a:solidFill>
                  </a:tcPr>
                </a:tc>
                <a:tc>
                  <a:txBody>
                    <a:bodyPr/>
                    <a:lstStyle/>
                    <a:p>
                      <a:r>
                        <a:rPr sz="1800" b="0">
                          <a:solidFill>
                            <a:srgbClr val="132A3A"/>
                          </a:solidFill>
                          <a:latin typeface="Arial"/>
                          <a:ea typeface="Arial"/>
                          <a:cs typeface="Arial"/>
                        </a:rPr>
                        <a:t>Momento de generación</a:t>
                      </a:r>
                    </a:p>
                  </a:txBody>
                  <a:tcPr marL="91440" marR="91440" marT="45720" marB="45720">
                    <a:lnR w="9525">
                      <a:solidFill>
                        <a:srgbClr val="CFDCE3"/>
                      </a:solidFill>
                      <a:prstDash val="solid"/>
                    </a:lnR>
                    <a:lnB w="9525">
                      <a:solidFill>
                        <a:srgbClr val="CFDCE3"/>
                      </a:solidFill>
                      <a:prstDash val="solid"/>
                    </a:lnB>
                    <a:solidFill>
                      <a:srgbClr val="FFFFFF"/>
                    </a:solidFill>
                  </a:tcPr>
                </a:tc>
              </a:tr>
              <a:tr h="634365">
                <a:tc>
                  <a:txBody>
                    <a:bodyPr/>
                    <a:lstStyle/>
                    <a:p>
                      <a:r>
                        <a:rPr sz="1800" b="0">
                          <a:solidFill>
                            <a:srgbClr val="132A3A"/>
                          </a:solidFill>
                          <a:latin typeface="Arial"/>
                          <a:ea typeface="Arial"/>
                          <a:cs typeface="Arial"/>
                        </a:rPr>
                        <a:t>Número de lectura</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2F6F8"/>
                    </a:solidFill>
                  </a:tcPr>
                </a:tc>
                <a:tc>
                  <a:txBody>
                    <a:bodyPr/>
                    <a:lstStyle/>
                    <a:p>
                      <a:r>
                        <a:rPr sz="1800" b="0">
                          <a:solidFill>
                            <a:srgbClr val="132A3A"/>
                          </a:solidFill>
                          <a:latin typeface="Arial"/>
                          <a:ea typeface="Arial"/>
                          <a:cs typeface="Arial"/>
                        </a:rPr>
                        <a:t>Contador de la ejecución</a:t>
                      </a:r>
                    </a:p>
                  </a:txBody>
                  <a:tcPr marL="91440" marR="91440" marT="45720" marB="45720">
                    <a:lnR w="9525">
                      <a:solidFill>
                        <a:srgbClr val="CFDCE3"/>
                      </a:solidFill>
                      <a:prstDash val="solid"/>
                    </a:lnR>
                    <a:lnB w="9525">
                      <a:solidFill>
                        <a:srgbClr val="CFDCE3"/>
                      </a:solidFill>
                      <a:prstDash val="solid"/>
                    </a:lnB>
                    <a:solidFill>
                      <a:srgbClr val="F2F6F8"/>
                    </a:solidFill>
                  </a:tcPr>
                </a:tc>
              </a:tr>
            </a:tbl>
          </a:graphicData>
        </a:graphic>
      </p:graphicFrame>
      <p:sp>
        <p:nvSpPr>
          <p:cNvPr id="5" name="texto-3">
            <a:extLst xmlns:a="http://schemas.openxmlformats.org/drawingml/2006/main">
              <a:ext uri="{FF2B5EF4-FFF2-40B4-BE49-F238E27FC236}">
                <a16:creationId xmlns:a16="http://schemas.microsoft.com/office/drawing/2014/main" id="{79FFADFB-6EFC-45D7-AC5F-60E3E9EB3F76}"/>
              </a:ext>
            </a:extLst>
          </p:cNvPr>
          <p:cNvSpPr>
            <a:spLocks xmlns:a="http://schemas.openxmlformats.org/drawingml/2006/main" noGrp="1"/>
          </p:cNvSpPr>
          <p:nvPr/>
        </p:nvSpPr>
        <p:spPr>
          <a:xfrm xmlns:a="http://schemas.openxmlformats.org/drawingml/2006/main">
            <a:off x="7658100" y="2209800"/>
            <a:ext cx="3667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32A3A"/>
                </a:solidFill>
                <a:latin typeface="Arial"/>
                <a:ea typeface="Arial"/>
                <a:cs typeface="Arial"/>
              </a:defRPr>
            </a:defPPr>
          </a:lstStyle>
          <a:p xmlns:a="http://schemas.openxmlformats.org/drawingml/2006/main">
            <a:pPr algn="l">
              <a:defRPr sz="2175" b="1">
                <a:solidFill>
                  <a:srgbClr val="132A3A"/>
                </a:solidFill>
                <a:latin typeface="Arial"/>
                <a:ea typeface="Arial"/>
                <a:cs typeface="Arial"/>
              </a:defRPr>
            </a:pPr>
            <a:r>
              <a:rPr sz="2175" b="1">
                <a:solidFill>
                  <a:srgbClr val="132A3A"/>
                </a:solidFill>
                <a:latin typeface="Arial"/>
                <a:ea typeface="Arial"/>
                <a:cs typeface="Arial"/>
              </a:rPr>
              <a:t>Receptor Python</a:t>
            </a:r>
          </a:p>
        </p:txBody>
      </p:sp>
      <p:sp>
        <p:nvSpPr>
          <p:cNvPr id="6" name="texto-4">
            <a:extLst xmlns:a="http://schemas.openxmlformats.org/drawingml/2006/main">
              <a:ext uri="{FF2B5EF4-FFF2-40B4-BE49-F238E27FC236}">
                <a16:creationId xmlns:a16="http://schemas.microsoft.com/office/drawing/2014/main" id="{1CC3455E-2957-4CE0-98FF-4EF6E509FB23}"/>
              </a:ext>
            </a:extLst>
          </p:cNvPr>
          <p:cNvSpPr>
            <a:spLocks xmlns:a="http://schemas.openxmlformats.org/drawingml/2006/main" noGrp="1"/>
          </p:cNvSpPr>
          <p:nvPr/>
        </p:nvSpPr>
        <p:spPr>
          <a:xfrm xmlns:a="http://schemas.openxmlformats.org/drawingml/2006/main">
            <a:off x="7658100" y="2771775"/>
            <a:ext cx="3667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A3A"/>
                </a:solidFill>
                <a:latin typeface="Arial"/>
                <a:ea typeface="Arial"/>
                <a:cs typeface="Arial"/>
              </a:defRPr>
            </a:defPPr>
          </a:lstStyle>
          <a:p xmlns:a="http://schemas.openxmlformats.org/drawingml/2006/main">
            <a:pPr algn="l">
              <a:defRPr sz="2025" b="0">
                <a:solidFill>
                  <a:srgbClr val="132A3A"/>
                </a:solidFill>
                <a:latin typeface="Arial"/>
                <a:ea typeface="Arial"/>
                <a:cs typeface="Arial"/>
              </a:defRPr>
            </a:pPr>
            <a:r>
              <a:rPr sz="2025" b="0">
                <a:solidFill>
                  <a:srgbClr val="132A3A"/>
                </a:solidFill>
                <a:latin typeface="Arial"/>
                <a:ea typeface="Arial"/>
                <a:cs typeface="Arial"/>
              </a:rPr>
              <a:t>Comprueba el contenido antes de escribir.</a:t>
            </a:r>
          </a:p>
        </p:txBody>
      </p:sp>
      <p:sp>
        <p:nvSpPr>
          <p:cNvPr id="7" name="texto-5">
            <a:extLst xmlns:a="http://schemas.openxmlformats.org/drawingml/2006/main">
              <a:ext uri="{FF2B5EF4-FFF2-40B4-BE49-F238E27FC236}">
                <a16:creationId xmlns:a16="http://schemas.microsoft.com/office/drawing/2014/main" id="{50CECA34-DB04-4E5F-8FFF-57ABACEFD420}"/>
              </a:ext>
            </a:extLst>
          </p:cNvPr>
          <p:cNvSpPr>
            <a:spLocks xmlns:a="http://schemas.openxmlformats.org/drawingml/2006/main" noGrp="1"/>
          </p:cNvSpPr>
          <p:nvPr/>
        </p:nvSpPr>
        <p:spPr>
          <a:xfrm xmlns:a="http://schemas.openxmlformats.org/drawingml/2006/main">
            <a:off x="7658100" y="4000500"/>
            <a:ext cx="366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147D57"/>
                </a:solidFill>
                <a:latin typeface="Arial"/>
                <a:ea typeface="Arial"/>
                <a:cs typeface="Arial"/>
              </a:defRPr>
            </a:defPPr>
          </a:lstStyle>
          <a:p xmlns:a="http://schemas.openxmlformats.org/drawingml/2006/main">
            <a:pPr algn="l">
              <a:defRPr sz="2175" b="1">
                <a:solidFill>
                  <a:srgbClr val="147D57"/>
                </a:solidFill>
                <a:latin typeface="Arial"/>
                <a:ea typeface="Arial"/>
                <a:cs typeface="Arial"/>
              </a:defRPr>
            </a:pPr>
            <a:r>
              <a:rPr sz="2175" b="1">
                <a:solidFill>
                  <a:srgbClr val="147D57"/>
                </a:solidFill>
                <a:latin typeface="Arial"/>
                <a:ea typeface="Arial"/>
                <a:cs typeface="Arial"/>
              </a:rPr>
              <a:t>Bucket: temperaturas</a:t>
            </a:r>
          </a:p>
        </p:txBody>
      </p:sp>
      <p:sp>
        <p:nvSpPr>
          <p:cNvPr id="8" name="texto-6">
            <a:extLst xmlns:a="http://schemas.openxmlformats.org/drawingml/2006/main">
              <a:ext uri="{FF2B5EF4-FFF2-40B4-BE49-F238E27FC236}">
                <a16:creationId xmlns:a16="http://schemas.microsoft.com/office/drawing/2014/main" id="{B30AF1D0-B8E1-4C42-9931-56D04329603D}"/>
              </a:ext>
            </a:extLst>
          </p:cNvPr>
          <p:cNvSpPr>
            <a:spLocks xmlns:a="http://schemas.openxmlformats.org/drawingml/2006/main" noGrp="1"/>
          </p:cNvSpPr>
          <p:nvPr/>
        </p:nvSpPr>
        <p:spPr>
          <a:xfrm xmlns:a="http://schemas.openxmlformats.org/drawingml/2006/main">
            <a:off x="7658100" y="5010150"/>
            <a:ext cx="36671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32A3A"/>
                </a:solidFill>
                <a:latin typeface="Arial"/>
                <a:ea typeface="Arial"/>
                <a:cs typeface="Arial"/>
              </a:defRPr>
            </a:defPPr>
          </a:lstStyle>
          <a:p xmlns:a="http://schemas.openxmlformats.org/drawingml/2006/main">
            <a:pPr algn="l">
              <a:defRPr sz="2025" b="0">
                <a:solidFill>
                  <a:srgbClr val="132A3A"/>
                </a:solidFill>
                <a:latin typeface="Arial"/>
                <a:ea typeface="Arial"/>
                <a:cs typeface="Arial"/>
              </a:defRPr>
            </a:pPr>
            <a:r>
              <a:rPr sz="2025" b="0">
                <a:solidFill>
                  <a:srgbClr val="132A3A"/>
                </a:solidFill>
                <a:latin typeface="Arial"/>
                <a:ea typeface="Arial"/>
                <a:cs typeface="Arial"/>
              </a:rPr>
              <a:t>Retención de 7 días</a:t>
            </a:r>
          </a:p>
          <a:p xmlns:a="http://schemas.openxmlformats.org/drawingml/2006/main">
            <a:pPr algn="l">
              <a:defRPr sz="2025" b="0">
                <a:solidFill>
                  <a:srgbClr val="132A3A"/>
                </a:solidFill>
                <a:latin typeface="Arial"/>
                <a:ea typeface="Arial"/>
                <a:cs typeface="Arial"/>
              </a:defRPr>
            </a:pPr>
            <a:r>
              <a:rPr sz="2025" b="0">
                <a:solidFill>
                  <a:srgbClr val="132A3A"/>
                </a:solidFill>
                <a:latin typeface="Arial"/>
                <a:ea typeface="Arial"/>
                <a:cs typeface="Arial"/>
              </a:rPr>
              <a:t>Volumen persistente</a:t>
            </a:r>
          </a:p>
        </p:txBody>
      </p:sp>
    </p:spTree>
    <p:extLst>
      <p:ext uri="{BB962C8B-B14F-4D97-AF65-F5344CB8AC3E}">
        <p14:creationId xmlns:p14="http://schemas.microsoft.com/office/powerpoint/2010/main" val="10173560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o-0">
            <a:extLst xmlns:a="http://schemas.openxmlformats.org/drawingml/2006/main">
              <a:ext uri="{FF2B5EF4-FFF2-40B4-BE49-F238E27FC236}">
                <a16:creationId xmlns:a16="http://schemas.microsoft.com/office/drawing/2014/main" id="{B4E378D7-D80C-4454-9EB4-85FF92698ED9}"/>
              </a:ext>
            </a:extLst>
          </p:cNvPr>
          <p:cNvSpPr>
            <a:spLocks xmlns:a="http://schemas.openxmlformats.org/drawingml/2006/main" noGrp="1"/>
          </p:cNvSpPr>
          <p:nvPr/>
        </p:nvSpPr>
        <p:spPr>
          <a:xfrm xmlns:a="http://schemas.openxmlformats.org/drawingml/2006/main">
            <a:off x="609600" y="45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132A3A"/>
                </a:solidFill>
                <a:latin typeface="Arial"/>
                <a:ea typeface="Arial"/>
                <a:cs typeface="Arial"/>
              </a:defRPr>
            </a:defPPr>
          </a:lstStyle>
          <a:p xmlns:a="http://schemas.openxmlformats.org/drawingml/2006/main">
            <a:pPr algn="l">
              <a:defRPr sz="3300" b="1">
                <a:solidFill>
                  <a:srgbClr val="132A3A"/>
                </a:solidFill>
                <a:latin typeface="Arial"/>
                <a:ea typeface="Arial"/>
                <a:cs typeface="Arial"/>
              </a:defRPr>
            </a:pPr>
            <a:r>
              <a:rPr sz="3300" b="1">
                <a:solidFill>
                  <a:srgbClr val="132A3A"/>
                </a:solidFill>
                <a:latin typeface="Arial"/>
                <a:ea typeface="Arial"/>
                <a:cs typeface="Arial"/>
              </a:rPr>
              <a:t>Visualización e interpretación en Grafana</a:t>
            </a:r>
          </a:p>
        </p:txBody>
      </p:sp>
      <p:sp>
        <p:nvSpPr>
          <p:cNvPr id="2" name="texto-1">
            <a:extLst xmlns:a="http://schemas.openxmlformats.org/drawingml/2006/main">
              <a:ext uri="{FF2B5EF4-FFF2-40B4-BE49-F238E27FC236}">
                <a16:creationId xmlns:a16="http://schemas.microsoft.com/office/drawing/2014/main" id="{7C04A7C2-620F-4034-9BD5-FEF1F3A08662}"/>
              </a:ext>
            </a:extLst>
          </p:cNvPr>
          <p:cNvSpPr>
            <a:spLocks xmlns:a="http://schemas.openxmlformats.org/drawingml/2006/main" noGrp="1"/>
          </p:cNvSpPr>
          <p:nvPr/>
        </p:nvSpPr>
        <p:spPr>
          <a:xfrm xmlns:a="http://schemas.openxmlformats.org/drawingml/2006/main">
            <a:off x="609600" y="6438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878"/>
                </a:solidFill>
                <a:latin typeface="Arial"/>
                <a:ea typeface="Arial"/>
                <a:cs typeface="Arial"/>
              </a:defRPr>
            </a:defPPr>
          </a:lstStyle>
          <a:p xmlns:a="http://schemas.openxmlformats.org/drawingml/2006/main">
            <a:pPr algn="l">
              <a:defRPr sz="1350" b="0">
                <a:solidFill>
                  <a:srgbClr val="526878"/>
                </a:solidFill>
                <a:latin typeface="Arial"/>
                <a:ea typeface="Arial"/>
                <a:cs typeface="Arial"/>
              </a:defRPr>
            </a:pPr>
            <a:r>
              <a:rPr sz="1350" b="0">
                <a:solidFill>
                  <a:srgbClr val="526878"/>
                </a:solidFill>
                <a:latin typeface="Arial"/>
                <a:ea typeface="Arial"/>
                <a:cs typeface="Arial"/>
              </a:rPr>
              <a:t>TA3  08</a:t>
            </a:r>
          </a:p>
        </p:txBody>
      </p:sp>
      <p:sp>
        <p:nvSpPr>
          <p:cNvPr id="3" name="texto-2">
            <a:extLst xmlns:a="http://schemas.openxmlformats.org/drawingml/2006/main">
              <a:ext uri="{FF2B5EF4-FFF2-40B4-BE49-F238E27FC236}">
                <a16:creationId xmlns:a16="http://schemas.microsoft.com/office/drawing/2014/main" id="{5CAFE339-942C-4253-B869-24C9A080605D}"/>
              </a:ext>
            </a:extLst>
          </p:cNvPr>
          <p:cNvSpPr>
            <a:spLocks xmlns:a="http://schemas.openxmlformats.org/drawingml/2006/main" noGrp="1"/>
          </p:cNvSpPr>
          <p:nvPr/>
        </p:nvSpPr>
        <p:spPr>
          <a:xfrm xmlns:a="http://schemas.openxmlformats.org/drawingml/2006/main">
            <a:off x="609600" y="12096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007F86"/>
                </a:solidFill>
                <a:latin typeface="Arial"/>
                <a:ea typeface="Arial"/>
                <a:cs typeface="Arial"/>
              </a:defRPr>
            </a:defPPr>
          </a:lstStyle>
          <a:p xmlns:a="http://schemas.openxmlformats.org/drawingml/2006/main">
            <a:pPr algn="l">
              <a:defRPr sz="2025" b="1">
                <a:solidFill>
                  <a:srgbClr val="007F86"/>
                </a:solidFill>
                <a:latin typeface="Arial"/>
                <a:ea typeface="Arial"/>
                <a:cs typeface="Arial"/>
              </a:defRPr>
            </a:pPr>
            <a:r>
              <a:rPr sz="2025" b="1">
                <a:solidFill>
                  <a:srgbClr val="007F86"/>
                </a:solidFill>
                <a:latin typeface="Arial"/>
                <a:ea typeface="Arial"/>
                <a:cs typeface="Arial"/>
              </a:rPr>
              <a:t>Grafana consulta InfluxDB y actualiza el dashboard cada 10 segundos</a:t>
            </a:r>
          </a:p>
        </p:txBody>
      </p:sp>
      <p:pic>
        <p:nvPicPr>
          <p:cNvPr id="4" name="">
            <a:extLst xmlns:a="http://schemas.openxmlformats.org/drawingml/2006/main">
              <a:ext uri="{FF2B5EF4-FFF2-40B4-BE49-F238E27FC236}">
                <a16:creationId xmlns:a16="http://schemas.microsoft.com/office/drawing/2014/main" id="{7DC4D38C-CE4E-496A-BCFA-0F3CDB8D7AA7}"/>
              </a:ext>
            </a:extLst>
          </p:cNvPr>
          <p:cNvPicPr>
            <a:picLocks xmlns:a="http://schemas.openxmlformats.org/drawingml/2006/main" noChangeAspect="1"/>
          </p:cNvPicPr>
          <p:nvPr/>
        </p:nvPicPr>
        <p:blipFill>
          <a:blip xmlns:r="http://schemas.openxmlformats.org/officeDocument/2006/relationships" xmlns:a="http://schemas.openxmlformats.org/drawingml/2006/main" r:embed="Rfd33c9e5d2684778"/>
          <a:stretch xmlns:a="http://schemas.openxmlformats.org/drawingml/2006/main"/>
        </p:blipFill>
        <p:spPr>
          <a:xfrm xmlns:a="http://schemas.openxmlformats.org/drawingml/2006/main">
            <a:off x="1531431" y="1790700"/>
            <a:ext cx="9129139" cy="4305300"/>
          </a:xfrm>
          <a:prstGeom xmlns:a="http://schemas.openxmlformats.org/drawingml/2006/main" prst="rect">
            <a:avLst/>
          </a:prstGeom>
        </p:spPr>
      </p:pic>
      <p:sp>
        <p:nvSpPr>
          <p:cNvPr id="5" name="texto-3">
            <a:extLst xmlns:a="http://schemas.openxmlformats.org/drawingml/2006/main">
              <a:ext uri="{FF2B5EF4-FFF2-40B4-BE49-F238E27FC236}">
                <a16:creationId xmlns:a16="http://schemas.microsoft.com/office/drawing/2014/main" id="{3144CFA9-8585-4740-9C90-2867DE91AE5C}"/>
              </a:ext>
            </a:extLst>
          </p:cNvPr>
          <p:cNvSpPr>
            <a:spLocks xmlns:a="http://schemas.openxmlformats.org/drawingml/2006/main" noGrp="1"/>
          </p:cNvSpPr>
          <p:nvPr/>
        </p:nvSpPr>
        <p:spPr>
          <a:xfrm xmlns:a="http://schemas.openxmlformats.org/drawingml/2006/main">
            <a:off x="609600" y="61055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526878"/>
                </a:solidFill>
                <a:latin typeface="Arial"/>
                <a:ea typeface="Arial"/>
                <a:cs typeface="Arial"/>
              </a:defRPr>
            </a:defPPr>
          </a:lstStyle>
          <a:p xmlns:a="http://schemas.openxmlformats.org/drawingml/2006/main">
            <a:pPr algn="l">
              <a:defRPr sz="1725" b="0">
                <a:solidFill>
                  <a:srgbClr val="526878"/>
                </a:solidFill>
                <a:latin typeface="Arial"/>
                <a:ea typeface="Arial"/>
                <a:cs typeface="Arial"/>
              </a:defRPr>
            </a:pPr>
            <a:r>
              <a:rPr sz="1725" b="0">
                <a:solidFill>
                  <a:srgbClr val="526878"/>
                </a:solidFill>
                <a:latin typeface="Arial"/>
                <a:ea typeface="Arial"/>
                <a:cs typeface="Arial"/>
              </a:rPr>
              <a:t>La antigüedad permite reconocer una lectura que dejó de actualizarse</a:t>
            </a:r>
          </a:p>
        </p:txBody>
      </p:sp>
    </p:spTree>
    <p:extLst>
      <p:ext uri="{BB962C8B-B14F-4D97-AF65-F5344CB8AC3E}">
        <p14:creationId xmlns:p14="http://schemas.microsoft.com/office/powerpoint/2010/main" val="16065670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o-0">
            <a:extLst xmlns:a="http://schemas.openxmlformats.org/drawingml/2006/main">
              <a:ext uri="{FF2B5EF4-FFF2-40B4-BE49-F238E27FC236}">
                <a16:creationId xmlns:a16="http://schemas.microsoft.com/office/drawing/2014/main" id="{FF1D0DC0-D519-4007-B729-B8B81F4CE782}"/>
              </a:ext>
            </a:extLst>
          </p:cNvPr>
          <p:cNvSpPr>
            <a:spLocks xmlns:a="http://schemas.openxmlformats.org/drawingml/2006/main" noGrp="1"/>
          </p:cNvSpPr>
          <p:nvPr/>
        </p:nvSpPr>
        <p:spPr>
          <a:xfrm xmlns:a="http://schemas.openxmlformats.org/drawingml/2006/main">
            <a:off x="609600" y="45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132A3A"/>
                </a:solidFill>
                <a:latin typeface="Arial"/>
                <a:ea typeface="Arial"/>
                <a:cs typeface="Arial"/>
              </a:defRPr>
            </a:defPPr>
          </a:lstStyle>
          <a:p xmlns:a="http://schemas.openxmlformats.org/drawingml/2006/main">
            <a:pPr algn="l">
              <a:defRPr sz="3300" b="1">
                <a:solidFill>
                  <a:srgbClr val="132A3A"/>
                </a:solidFill>
                <a:latin typeface="Arial"/>
                <a:ea typeface="Arial"/>
                <a:cs typeface="Arial"/>
              </a:defRPr>
            </a:pPr>
            <a:r>
              <a:rPr sz="3300" b="1">
                <a:solidFill>
                  <a:srgbClr val="132A3A"/>
                </a:solidFill>
                <a:latin typeface="Arial"/>
                <a:ea typeface="Arial"/>
                <a:cs typeface="Arial"/>
              </a:rPr>
              <a:t>Comprobaciones del funcionamiento</a:t>
            </a:r>
          </a:p>
        </p:txBody>
      </p:sp>
      <p:sp>
        <p:nvSpPr>
          <p:cNvPr id="2" name="texto-1">
            <a:extLst xmlns:a="http://schemas.openxmlformats.org/drawingml/2006/main">
              <a:ext uri="{FF2B5EF4-FFF2-40B4-BE49-F238E27FC236}">
                <a16:creationId xmlns:a16="http://schemas.microsoft.com/office/drawing/2014/main" id="{4E7A4DF4-0E04-4112-8D14-1BB6D2569A38}"/>
              </a:ext>
            </a:extLst>
          </p:cNvPr>
          <p:cNvSpPr>
            <a:spLocks xmlns:a="http://schemas.openxmlformats.org/drawingml/2006/main" noGrp="1"/>
          </p:cNvSpPr>
          <p:nvPr/>
        </p:nvSpPr>
        <p:spPr>
          <a:xfrm xmlns:a="http://schemas.openxmlformats.org/drawingml/2006/main">
            <a:off x="609600" y="6438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878"/>
                </a:solidFill>
                <a:latin typeface="Arial"/>
                <a:ea typeface="Arial"/>
                <a:cs typeface="Arial"/>
              </a:defRPr>
            </a:defPPr>
          </a:lstStyle>
          <a:p xmlns:a="http://schemas.openxmlformats.org/drawingml/2006/main">
            <a:pPr algn="l">
              <a:defRPr sz="1350" b="0">
                <a:solidFill>
                  <a:srgbClr val="526878"/>
                </a:solidFill>
                <a:latin typeface="Arial"/>
                <a:ea typeface="Arial"/>
                <a:cs typeface="Arial"/>
              </a:defRPr>
            </a:pPr>
            <a:r>
              <a:rPr sz="1350" b="0">
                <a:solidFill>
                  <a:srgbClr val="526878"/>
                </a:solidFill>
                <a:latin typeface="Arial"/>
                <a:ea typeface="Arial"/>
                <a:cs typeface="Arial"/>
              </a:rPr>
              <a:t>TA3  09</a:t>
            </a:r>
          </a:p>
        </p:txBody>
      </p:sp>
      <p:graphicFrame>
        <p:nvGraphicFramePr>
          <p:cNvPr id="3" name="">
            <a:extLst xmlns:a="http://schemas.openxmlformats.org/drawingml/2006/main">
              <a:ext uri="{FF2B5EF4-FFF2-40B4-BE49-F238E27FC236}">
                <a16:creationId xmlns:a16="http://schemas.microsoft.com/office/drawing/2014/main" id="{4961D779-2E87-4D41-9058-E6F8B5BAFF77}"/>
              </a:ext>
            </a:extLst>
          </p:cNvPr>
          <p:cNvGraphicFramePr/>
          <p:nvPr/>
        </p:nvGraphicFramePr>
        <p:xfrm>
          <a:off xmlns:a="http://schemas.openxmlformats.org/drawingml/2006/main" x="609600" y="1847850"/>
          <a:ext xmlns:a="http://schemas.openxmlformats.org/drawingml/2006/main" cx="10972800" cy="3457575"/>
        </p:xfrm>
        <a:graphic xmlns:a="http://schemas.openxmlformats.org/drawingml/2006/main">
          <a:graphicData uri="http://schemas.openxmlformats.org/drawingml/2006/table">
            <a:tbl>
              <a:tblPr/>
              <a:tblGrid>
                <a:gridCol w="3181350"/>
                <a:gridCol w="7791450"/>
              </a:tblGrid>
              <a:tr h="691515">
                <a:tc>
                  <a:txBody>
                    <a:bodyPr/>
                    <a:lstStyle/>
                    <a:p>
                      <a:r>
                        <a:rPr sz="1800" b="1">
                          <a:solidFill>
                            <a:srgbClr val="FFFFFF"/>
                          </a:solidFill>
                          <a:latin typeface="Arial"/>
                          <a:ea typeface="Arial"/>
                          <a:cs typeface="Arial"/>
                        </a:rPr>
                        <a:t>Etapa</a:t>
                      </a:r>
                    </a:p>
                  </a:txBody>
                  <a:tcPr marL="91440" marR="91440" marT="45720" marB="45720">
                    <a:lnL w="9525">
                      <a:solidFill>
                        <a:srgbClr val="CFDCE3"/>
                      </a:solidFill>
                      <a:prstDash val="solid"/>
                    </a:lnL>
                    <a:lnR w="9525">
                      <a:solidFill>
                        <a:srgbClr val="CFDCE3"/>
                      </a:solidFill>
                      <a:prstDash val="solid"/>
                    </a:lnR>
                    <a:lnT w="9525">
                      <a:solidFill>
                        <a:srgbClr val="CFDCE3"/>
                      </a:solidFill>
                      <a:prstDash val="solid"/>
                    </a:lnT>
                    <a:lnB w="9525">
                      <a:solidFill>
                        <a:srgbClr val="CFDCE3"/>
                      </a:solidFill>
                      <a:prstDash val="solid"/>
                    </a:lnB>
                    <a:solidFill>
                      <a:srgbClr val="132A3A"/>
                    </a:solidFill>
                  </a:tcPr>
                </a:tc>
                <a:tc>
                  <a:txBody>
                    <a:bodyPr/>
                    <a:lstStyle/>
                    <a:p>
                      <a:r>
                        <a:rPr sz="1800" b="1">
                          <a:solidFill>
                            <a:srgbClr val="FFFFFF"/>
                          </a:solidFill>
                          <a:latin typeface="Arial"/>
                          <a:ea typeface="Arial"/>
                          <a:cs typeface="Arial"/>
                        </a:rPr>
                        <a:t>Qué comprobamos</a:t>
                      </a:r>
                    </a:p>
                  </a:txBody>
                  <a:tcPr marL="91440" marR="91440" marT="45720" marB="45720">
                    <a:lnR w="9525">
                      <a:solidFill>
                        <a:srgbClr val="CFDCE3"/>
                      </a:solidFill>
                      <a:prstDash val="solid"/>
                    </a:lnR>
                    <a:lnT w="9525">
                      <a:solidFill>
                        <a:srgbClr val="CFDCE3"/>
                      </a:solidFill>
                      <a:prstDash val="solid"/>
                    </a:lnT>
                    <a:lnB w="9525">
                      <a:solidFill>
                        <a:srgbClr val="CFDCE3"/>
                      </a:solidFill>
                      <a:prstDash val="solid"/>
                    </a:lnB>
                    <a:solidFill>
                      <a:srgbClr val="132A3A"/>
                    </a:solidFill>
                  </a:tcPr>
                </a:tc>
              </a:tr>
              <a:tr h="691515">
                <a:tc>
                  <a:txBody>
                    <a:bodyPr/>
                    <a:lstStyle/>
                    <a:p>
                      <a:r>
                        <a:rPr sz="1800" b="0">
                          <a:solidFill>
                            <a:srgbClr val="132A3A"/>
                          </a:solidFill>
                          <a:latin typeface="Arial"/>
                          <a:ea typeface="Arial"/>
                          <a:cs typeface="Arial"/>
                        </a:rPr>
                        <a:t>Servicios</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FFFFF"/>
                    </a:solidFill>
                  </a:tcPr>
                </a:tc>
                <a:tc>
                  <a:txBody>
                    <a:bodyPr/>
                    <a:lstStyle/>
                    <a:p>
                      <a:r>
                        <a:rPr sz="1800" b="0">
                          <a:solidFill>
                            <a:srgbClr val="132A3A"/>
                          </a:solidFill>
                          <a:latin typeface="Arial"/>
                          <a:ea typeface="Arial"/>
                          <a:cs typeface="Arial"/>
                        </a:rPr>
                        <a:t>Los seis contenedores están activos</a:t>
                      </a:r>
                    </a:p>
                  </a:txBody>
                  <a:tcPr marL="91440" marR="91440" marT="45720" marB="45720">
                    <a:lnR w="9525">
                      <a:solidFill>
                        <a:srgbClr val="CFDCE3"/>
                      </a:solidFill>
                      <a:prstDash val="solid"/>
                    </a:lnR>
                    <a:lnB w="9525">
                      <a:solidFill>
                        <a:srgbClr val="CFDCE3"/>
                      </a:solidFill>
                      <a:prstDash val="solid"/>
                    </a:lnB>
                    <a:solidFill>
                      <a:srgbClr val="FFFFFF"/>
                    </a:solidFill>
                  </a:tcPr>
                </a:tc>
              </a:tr>
              <a:tr h="691515">
                <a:tc>
                  <a:txBody>
                    <a:bodyPr/>
                    <a:lstStyle/>
                    <a:p>
                      <a:r>
                        <a:rPr sz="1800" b="0">
                          <a:solidFill>
                            <a:srgbClr val="132A3A"/>
                          </a:solidFill>
                          <a:latin typeface="Arial"/>
                          <a:ea typeface="Arial"/>
                          <a:cs typeface="Arial"/>
                        </a:rPr>
                        <a:t>MQTT</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2F6F8"/>
                    </a:solidFill>
                  </a:tcPr>
                </a:tc>
                <a:tc>
                  <a:txBody>
                    <a:bodyPr/>
                    <a:lstStyle/>
                    <a:p>
                      <a:r>
                        <a:rPr sz="1800" b="0">
                          <a:solidFill>
                            <a:srgbClr val="132A3A"/>
                          </a:solidFill>
                          <a:latin typeface="Arial"/>
                          <a:ea typeface="Arial"/>
                          <a:cs typeface="Arial"/>
                        </a:rPr>
                        <a:t>Ambos nodos publican mensajes</a:t>
                      </a:r>
                    </a:p>
                  </a:txBody>
                  <a:tcPr marL="91440" marR="91440" marT="45720" marB="45720">
                    <a:lnR w="9525">
                      <a:solidFill>
                        <a:srgbClr val="CFDCE3"/>
                      </a:solidFill>
                      <a:prstDash val="solid"/>
                    </a:lnR>
                    <a:lnB w="9525">
                      <a:solidFill>
                        <a:srgbClr val="CFDCE3"/>
                      </a:solidFill>
                      <a:prstDash val="solid"/>
                    </a:lnB>
                    <a:solidFill>
                      <a:srgbClr val="F2F6F8"/>
                    </a:solidFill>
                  </a:tcPr>
                </a:tc>
              </a:tr>
              <a:tr h="691515">
                <a:tc>
                  <a:txBody>
                    <a:bodyPr/>
                    <a:lstStyle/>
                    <a:p>
                      <a:r>
                        <a:rPr sz="1800" b="0">
                          <a:solidFill>
                            <a:srgbClr val="132A3A"/>
                          </a:solidFill>
                          <a:latin typeface="Arial"/>
                          <a:ea typeface="Arial"/>
                          <a:cs typeface="Arial"/>
                        </a:rPr>
                        <a:t>Almacenamiento</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FFFFF"/>
                    </a:solidFill>
                  </a:tcPr>
                </a:tc>
                <a:tc>
                  <a:txBody>
                    <a:bodyPr/>
                    <a:lstStyle/>
                    <a:p>
                      <a:r>
                        <a:rPr sz="1800" b="0">
                          <a:solidFill>
                            <a:srgbClr val="132A3A"/>
                          </a:solidFill>
                          <a:latin typeface="Arial"/>
                          <a:ea typeface="Arial"/>
                          <a:cs typeface="Arial"/>
                        </a:rPr>
                        <a:t>El receptor confirma las escrituras</a:t>
                      </a:r>
                    </a:p>
                  </a:txBody>
                  <a:tcPr marL="91440" marR="91440" marT="45720" marB="45720">
                    <a:lnR w="9525">
                      <a:solidFill>
                        <a:srgbClr val="CFDCE3"/>
                      </a:solidFill>
                      <a:prstDash val="solid"/>
                    </a:lnR>
                    <a:lnB w="9525">
                      <a:solidFill>
                        <a:srgbClr val="CFDCE3"/>
                      </a:solidFill>
                      <a:prstDash val="solid"/>
                    </a:lnB>
                    <a:solidFill>
                      <a:srgbClr val="FFFFFF"/>
                    </a:solidFill>
                  </a:tcPr>
                </a:tc>
              </a:tr>
              <a:tr h="691515">
                <a:tc>
                  <a:txBody>
                    <a:bodyPr/>
                    <a:lstStyle/>
                    <a:p>
                      <a:r>
                        <a:rPr sz="1800" b="0">
                          <a:solidFill>
                            <a:srgbClr val="132A3A"/>
                          </a:solidFill>
                          <a:latin typeface="Arial"/>
                          <a:ea typeface="Arial"/>
                          <a:cs typeface="Arial"/>
                        </a:rPr>
                        <a:t>Visualización</a:t>
                      </a:r>
                    </a:p>
                  </a:txBody>
                  <a:tcPr marL="91440" marR="91440" marT="45720" marB="45720">
                    <a:lnL w="9525">
                      <a:solidFill>
                        <a:srgbClr val="CFDCE3"/>
                      </a:solidFill>
                      <a:prstDash val="solid"/>
                    </a:lnL>
                    <a:lnR w="9525">
                      <a:solidFill>
                        <a:srgbClr val="CFDCE3"/>
                      </a:solidFill>
                      <a:prstDash val="solid"/>
                    </a:lnR>
                    <a:lnB w="9525">
                      <a:solidFill>
                        <a:srgbClr val="CFDCE3"/>
                      </a:solidFill>
                      <a:prstDash val="solid"/>
                    </a:lnB>
                    <a:solidFill>
                      <a:srgbClr val="F2F6F8"/>
                    </a:solidFill>
                  </a:tcPr>
                </a:tc>
                <a:tc>
                  <a:txBody>
                    <a:bodyPr/>
                    <a:lstStyle/>
                    <a:p>
                      <a:r>
                        <a:rPr sz="1800" b="0">
                          <a:solidFill>
                            <a:srgbClr val="132A3A"/>
                          </a:solidFill>
                          <a:latin typeface="Arial"/>
                          <a:ea typeface="Arial"/>
                          <a:cs typeface="Arial"/>
                        </a:rPr>
                        <a:t>Grafana presenta lecturas e historial</a:t>
                      </a:r>
                    </a:p>
                  </a:txBody>
                  <a:tcPr marL="91440" marR="91440" marT="45720" marB="45720">
                    <a:lnR w="9525">
                      <a:solidFill>
                        <a:srgbClr val="CFDCE3"/>
                      </a:solidFill>
                      <a:prstDash val="solid"/>
                    </a:lnR>
                    <a:lnB w="9525">
                      <a:solidFill>
                        <a:srgbClr val="CFDCE3"/>
                      </a:solidFill>
                      <a:prstDash val="solid"/>
                    </a:lnB>
                    <a:solidFill>
                      <a:srgbClr val="F2F6F8"/>
                    </a:solidFill>
                  </a:tcPr>
                </a:tc>
              </a:tr>
            </a:tbl>
          </a:graphicData>
        </a:graphic>
      </p:graphicFrame>
      <p:sp>
        <p:nvSpPr>
          <p:cNvPr id="4" name="texto-2">
            <a:extLst xmlns:a="http://schemas.openxmlformats.org/drawingml/2006/main">
              <a:ext uri="{FF2B5EF4-FFF2-40B4-BE49-F238E27FC236}">
                <a16:creationId xmlns:a16="http://schemas.microsoft.com/office/drawing/2014/main" id="{3E2E2B7F-A40C-4965-A73A-A00BC5231678}"/>
              </a:ext>
            </a:extLst>
          </p:cNvPr>
          <p:cNvSpPr>
            <a:spLocks xmlns:a="http://schemas.openxmlformats.org/drawingml/2006/main" noGrp="1"/>
          </p:cNvSpPr>
          <p:nvPr/>
        </p:nvSpPr>
        <p:spPr>
          <a:xfrm xmlns:a="http://schemas.openxmlformats.org/drawingml/2006/main">
            <a:off x="609600" y="56578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1">
                <a:solidFill>
                  <a:srgbClr val="287AC3"/>
                </a:solidFill>
                <a:latin typeface="Arial"/>
                <a:ea typeface="Arial"/>
                <a:cs typeface="Arial"/>
              </a:defRPr>
            </a:defPPr>
          </a:lstStyle>
          <a:p xmlns:a="http://schemas.openxmlformats.org/drawingml/2006/main">
            <a:pPr algn="l">
              <a:defRPr sz="2175" b="1">
                <a:solidFill>
                  <a:srgbClr val="287AC3"/>
                </a:solidFill>
                <a:latin typeface="Arial"/>
                <a:ea typeface="Arial"/>
                <a:cs typeface="Arial"/>
              </a:defRPr>
            </a:pPr>
            <a:r>
              <a:rPr sz="2175" b="1">
                <a:solidFill>
                  <a:srgbClr val="287AC3"/>
                </a:solidFill>
                <a:latin typeface="Arial"/>
                <a:ea typeface="Arial"/>
                <a:cs typeface="Arial"/>
              </a:rPr>
              <a:t>PUBLICADO identifica el envío al broker</a:t>
            </a:r>
          </a:p>
        </p:txBody>
      </p:sp>
      <p:sp>
        <p:nvSpPr>
          <p:cNvPr id="5" name="texto-3">
            <a:extLst xmlns:a="http://schemas.openxmlformats.org/drawingml/2006/main">
              <a:ext uri="{FF2B5EF4-FFF2-40B4-BE49-F238E27FC236}">
                <a16:creationId xmlns:a16="http://schemas.microsoft.com/office/drawing/2014/main" id="{23D3FB7B-BF07-48F3-86D7-B52131A770DC}"/>
              </a:ext>
            </a:extLst>
          </p:cNvPr>
          <p:cNvSpPr>
            <a:spLocks xmlns:a="http://schemas.openxmlformats.org/drawingml/2006/main" noGrp="1"/>
          </p:cNvSpPr>
          <p:nvPr/>
        </p:nvSpPr>
        <p:spPr>
          <a:xfrm xmlns:a="http://schemas.openxmlformats.org/drawingml/2006/main">
            <a:off x="609600" y="60579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147D57"/>
                </a:solidFill>
                <a:latin typeface="Arial"/>
                <a:ea typeface="Arial"/>
                <a:cs typeface="Arial"/>
              </a:defRPr>
            </a:defPPr>
          </a:lstStyle>
          <a:p xmlns:a="http://schemas.openxmlformats.org/drawingml/2006/main">
            <a:pPr algn="l">
              <a:defRPr sz="2025" b="1">
                <a:solidFill>
                  <a:srgbClr val="147D57"/>
                </a:solidFill>
                <a:latin typeface="Arial"/>
                <a:ea typeface="Arial"/>
                <a:cs typeface="Arial"/>
              </a:defRPr>
            </a:pPr>
            <a:r>
              <a:rPr sz="2025" b="1">
                <a:solidFill>
                  <a:srgbClr val="147D57"/>
                </a:solidFill>
                <a:latin typeface="Arial"/>
                <a:ea typeface="Arial"/>
                <a:cs typeface="Arial"/>
              </a:rPr>
              <a:t>GUARDADO identifica la escritura confirmada</a:t>
            </a:r>
          </a:p>
        </p:txBody>
      </p:sp>
    </p:spTree>
    <p:extLst>
      <p:ext uri="{BB962C8B-B14F-4D97-AF65-F5344CB8AC3E}">
        <p14:creationId xmlns:p14="http://schemas.microsoft.com/office/powerpoint/2010/main" val="14368595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o-0">
            <a:extLst xmlns:a="http://schemas.openxmlformats.org/drawingml/2006/main">
              <a:ext uri="{FF2B5EF4-FFF2-40B4-BE49-F238E27FC236}">
                <a16:creationId xmlns:a16="http://schemas.microsoft.com/office/drawing/2014/main" id="{D84377E1-7CC9-4695-BBCF-C7D585DFFEB1}"/>
              </a:ext>
            </a:extLst>
          </p:cNvPr>
          <p:cNvSpPr>
            <a:spLocks xmlns:a="http://schemas.openxmlformats.org/drawingml/2006/main" noGrp="1"/>
          </p:cNvSpPr>
          <p:nvPr/>
        </p:nvSpPr>
        <p:spPr>
          <a:xfrm xmlns:a="http://schemas.openxmlformats.org/drawingml/2006/main">
            <a:off x="609600" y="4572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3300" b="1">
                <a:solidFill>
                  <a:srgbClr val="132A3A"/>
                </a:solidFill>
                <a:latin typeface="Arial"/>
                <a:ea typeface="Arial"/>
                <a:cs typeface="Arial"/>
              </a:defRPr>
            </a:defPPr>
          </a:lstStyle>
          <a:p xmlns:a="http://schemas.openxmlformats.org/drawingml/2006/main">
            <a:pPr algn="l">
              <a:defRPr sz="3300" b="1">
                <a:solidFill>
                  <a:srgbClr val="132A3A"/>
                </a:solidFill>
                <a:latin typeface="Arial"/>
                <a:ea typeface="Arial"/>
                <a:cs typeface="Arial"/>
              </a:defRPr>
            </a:pPr>
            <a:r>
              <a:rPr sz="3300" b="1">
                <a:solidFill>
                  <a:srgbClr val="132A3A"/>
                </a:solidFill>
                <a:latin typeface="Arial"/>
                <a:ea typeface="Arial"/>
                <a:cs typeface="Arial"/>
              </a:rPr>
              <a:t>Conclusiones y siguiente paso</a:t>
            </a:r>
          </a:p>
        </p:txBody>
      </p:sp>
      <p:sp>
        <p:nvSpPr>
          <p:cNvPr id="2" name="texto-1">
            <a:extLst xmlns:a="http://schemas.openxmlformats.org/drawingml/2006/main">
              <a:ext uri="{FF2B5EF4-FFF2-40B4-BE49-F238E27FC236}">
                <a16:creationId xmlns:a16="http://schemas.microsoft.com/office/drawing/2014/main" id="{9A964C4D-60D3-4C37-9753-5BA60E02B71A}"/>
              </a:ext>
            </a:extLst>
          </p:cNvPr>
          <p:cNvSpPr>
            <a:spLocks xmlns:a="http://schemas.openxmlformats.org/drawingml/2006/main" noGrp="1"/>
          </p:cNvSpPr>
          <p:nvPr/>
        </p:nvSpPr>
        <p:spPr>
          <a:xfrm xmlns:a="http://schemas.openxmlformats.org/drawingml/2006/main">
            <a:off x="609600" y="64389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878"/>
                </a:solidFill>
                <a:latin typeface="Arial"/>
                <a:ea typeface="Arial"/>
                <a:cs typeface="Arial"/>
              </a:defRPr>
            </a:defPPr>
          </a:lstStyle>
          <a:p xmlns:a="http://schemas.openxmlformats.org/drawingml/2006/main">
            <a:pPr algn="l">
              <a:defRPr sz="1350" b="0">
                <a:solidFill>
                  <a:srgbClr val="526878"/>
                </a:solidFill>
                <a:latin typeface="Arial"/>
                <a:ea typeface="Arial"/>
                <a:cs typeface="Arial"/>
              </a:defRPr>
            </a:pPr>
            <a:r>
              <a:rPr sz="1350" b="0">
                <a:solidFill>
                  <a:srgbClr val="526878"/>
                </a:solidFill>
                <a:latin typeface="Arial"/>
                <a:ea typeface="Arial"/>
                <a:cs typeface="Arial"/>
              </a:rPr>
              <a:t>TA3  10</a:t>
            </a:r>
          </a:p>
        </p:txBody>
      </p:sp>
      <p:sp>
        <p:nvSpPr>
          <p:cNvPr id="3" name="texto-2">
            <a:extLst xmlns:a="http://schemas.openxmlformats.org/drawingml/2006/main">
              <a:ext uri="{FF2B5EF4-FFF2-40B4-BE49-F238E27FC236}">
                <a16:creationId xmlns:a16="http://schemas.microsoft.com/office/drawing/2014/main" id="{98BED0B1-A52A-471C-9C47-E6DE1D91A1D1}"/>
              </a:ext>
            </a:extLst>
          </p:cNvPr>
          <p:cNvSpPr>
            <a:spLocks xmlns:a="http://schemas.openxmlformats.org/drawingml/2006/main" noGrp="1"/>
          </p:cNvSpPr>
          <p:nvPr/>
        </p:nvSpPr>
        <p:spPr>
          <a:xfrm xmlns:a="http://schemas.openxmlformats.org/drawingml/2006/main">
            <a:off x="609600" y="1438275"/>
            <a:ext cx="10810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925" b="1">
                <a:solidFill>
                  <a:srgbClr val="007F86"/>
                </a:solidFill>
                <a:latin typeface="Arial"/>
                <a:ea typeface="Arial"/>
                <a:cs typeface="Arial"/>
              </a:defRPr>
            </a:defPPr>
          </a:lstStyle>
          <a:p xmlns:a="http://schemas.openxmlformats.org/drawingml/2006/main">
            <a:pPr algn="l">
              <a:defRPr sz="2925" b="1">
                <a:solidFill>
                  <a:srgbClr val="007F86"/>
                </a:solidFill>
                <a:latin typeface="Arial"/>
                <a:ea typeface="Arial"/>
                <a:cs typeface="Arial"/>
              </a:defRPr>
            </a:pPr>
            <a:r>
              <a:rPr sz="2925" b="1">
                <a:solidFill>
                  <a:srgbClr val="007F86"/>
                </a:solidFill>
                <a:latin typeface="Arial"/>
                <a:ea typeface="Arial"/>
                <a:cs typeface="Arial"/>
              </a:rPr>
              <a:t>El prototipo integra el recorrido completo de una lectura</a:t>
            </a:r>
          </a:p>
        </p:txBody>
      </p:sp>
      <p:sp>
        <p:nvSpPr>
          <p:cNvPr id="4" name="texto-3">
            <a:extLst xmlns:a="http://schemas.openxmlformats.org/drawingml/2006/main">
              <a:ext uri="{FF2B5EF4-FFF2-40B4-BE49-F238E27FC236}">
                <a16:creationId xmlns:a16="http://schemas.microsoft.com/office/drawing/2014/main" id="{FA6F6C2A-AE4C-40EC-852B-B28D6F239F12}"/>
              </a:ext>
            </a:extLst>
          </p:cNvPr>
          <p:cNvSpPr>
            <a:spLocks xmlns:a="http://schemas.openxmlformats.org/drawingml/2006/main" noGrp="1"/>
          </p:cNvSpPr>
          <p:nvPr/>
        </p:nvSpPr>
        <p:spPr>
          <a:xfrm xmlns:a="http://schemas.openxmlformats.org/drawingml/2006/main">
            <a:off x="609600" y="2781300"/>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0">
                <a:solidFill>
                  <a:srgbClr val="132A3A"/>
                </a:solidFill>
                <a:latin typeface="Arial"/>
                <a:ea typeface="Arial"/>
                <a:cs typeface="Arial"/>
              </a:defRPr>
            </a:defPPr>
          </a:lstStyle>
          <a:p xmlns:a="http://schemas.openxmlformats.org/drawingml/2006/main">
            <a:pPr algn="l">
              <a:defRPr sz="2325" b="0">
                <a:solidFill>
                  <a:srgbClr val="132A3A"/>
                </a:solidFill>
                <a:latin typeface="Arial"/>
                <a:ea typeface="Arial"/>
                <a:cs typeface="Arial"/>
              </a:defRPr>
            </a:pPr>
            <a:r>
              <a:rPr sz="2325" b="0">
                <a:solidFill>
                  <a:srgbClr val="132A3A"/>
                </a:solidFill>
                <a:latin typeface="Arial"/>
                <a:ea typeface="Arial"/>
                <a:cs typeface="Arial"/>
              </a:rPr>
              <a:t>Permite comparar las zonas y consultar su historial.</a:t>
            </a:r>
          </a:p>
        </p:txBody>
      </p:sp>
      <p:sp>
        <p:nvSpPr>
          <p:cNvPr id="5" name="texto-4">
            <a:extLst xmlns:a="http://schemas.openxmlformats.org/drawingml/2006/main">
              <a:ext uri="{FF2B5EF4-FFF2-40B4-BE49-F238E27FC236}">
                <a16:creationId xmlns:a16="http://schemas.microsoft.com/office/drawing/2014/main" id="{5C870F0E-1504-4310-895E-5A770C2EE958}"/>
              </a:ext>
            </a:extLst>
          </p:cNvPr>
          <p:cNvSpPr>
            <a:spLocks xmlns:a="http://schemas.openxmlformats.org/drawingml/2006/main" noGrp="1"/>
          </p:cNvSpPr>
          <p:nvPr/>
        </p:nvSpPr>
        <p:spPr>
          <a:xfrm xmlns:a="http://schemas.openxmlformats.org/drawingml/2006/main">
            <a:off x="609600" y="3829050"/>
            <a:ext cx="10810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325" b="0">
                <a:solidFill>
                  <a:srgbClr val="132A3A"/>
                </a:solidFill>
                <a:latin typeface="Arial"/>
                <a:ea typeface="Arial"/>
                <a:cs typeface="Arial"/>
              </a:defRPr>
            </a:defPPr>
          </a:lstStyle>
          <a:p xmlns:a="http://schemas.openxmlformats.org/drawingml/2006/main">
            <a:pPr algn="l">
              <a:defRPr sz="2325" b="0">
                <a:solidFill>
                  <a:srgbClr val="132A3A"/>
                </a:solidFill>
                <a:latin typeface="Arial"/>
                <a:ea typeface="Arial"/>
                <a:cs typeface="Arial"/>
              </a:defRPr>
            </a:pPr>
            <a:r>
              <a:rPr sz="2325" b="0">
                <a:solidFill>
                  <a:srgbClr val="132A3A"/>
                </a:solidFill>
                <a:latin typeface="Arial"/>
                <a:ea typeface="Arial"/>
                <a:cs typeface="Arial"/>
              </a:rPr>
              <a:t>Los sensores virtuales representan la adquisición de temperatura.</a:t>
            </a:r>
          </a:p>
        </p:txBody>
      </p:sp>
      <p:sp>
        <p:nvSpPr>
          <p:cNvPr id="6" name="texto-5">
            <a:extLst xmlns:a="http://schemas.openxmlformats.org/drawingml/2006/main">
              <a:ext uri="{FF2B5EF4-FFF2-40B4-BE49-F238E27FC236}">
                <a16:creationId xmlns:a16="http://schemas.microsoft.com/office/drawing/2014/main" id="{DA8D9CC5-B034-4E69-8D60-A274A5689340}"/>
              </a:ext>
            </a:extLst>
          </p:cNvPr>
          <p:cNvSpPr>
            <a:spLocks xmlns:a="http://schemas.openxmlformats.org/drawingml/2006/main" noGrp="1"/>
          </p:cNvSpPr>
          <p:nvPr/>
        </p:nvSpPr>
        <p:spPr>
          <a:xfrm xmlns:a="http://schemas.openxmlformats.org/drawingml/2006/main">
            <a:off x="609600" y="4991100"/>
            <a:ext cx="1081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75" b="0">
                <a:solidFill>
                  <a:srgbClr val="526878"/>
                </a:solidFill>
                <a:latin typeface="Arial"/>
                <a:ea typeface="Arial"/>
                <a:cs typeface="Arial"/>
              </a:defRPr>
            </a:defPPr>
          </a:lstStyle>
          <a:p xmlns:a="http://schemas.openxmlformats.org/drawingml/2006/main">
            <a:pPr algn="l">
              <a:defRPr sz="2175" b="0">
                <a:solidFill>
                  <a:srgbClr val="526878"/>
                </a:solidFill>
                <a:latin typeface="Arial"/>
                <a:ea typeface="Arial"/>
                <a:cs typeface="Arial"/>
              </a:defRPr>
            </a:pPr>
            <a:r>
              <a:rPr sz="2175" b="0">
                <a:solidFill>
                  <a:srgbClr val="526878"/>
                </a:solidFill>
                <a:latin typeface="Arial"/>
                <a:ea typeface="Arial"/>
                <a:cs typeface="Arial"/>
              </a:rPr>
              <a:t>Una implementación física requiere sensores calibrados y límites adecuados para los productos.</a:t>
            </a:r>
          </a:p>
        </p:txBody>
      </p:sp>
    </p:spTree>
    <p:extLst>
      <p:ext uri="{BB962C8B-B14F-4D97-AF65-F5344CB8AC3E}">
        <p14:creationId xmlns:p14="http://schemas.microsoft.com/office/powerpoint/2010/main" val="3412531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2026-10-12T20:57:32.1180000Z</dcterms:created>
  <dcterms:modified xsi:type="dcterms:W3CDTF">2026-10-12T20:57:32.1180000Z</dcterms:modified>
</coreProperties>
</file>